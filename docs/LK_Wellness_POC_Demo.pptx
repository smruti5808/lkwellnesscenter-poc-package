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fcdd8c4-9723-10b7-7d90-875f9c77fff8}">
          <p14:sldIdLst>
            <p14:sldId id="256"/>
            <p14:sldId id="257"/>
            <p14:sldId id="258"/>
          </p14:sldIdLst>
        </p14:section>
        <p14:section name="Patient portal" id="{28cb7d4e-9a4e-87d8-6672-e353fee0957b}">
          <p14:sldIdLst>
            <p14:sldId id="259"/>
            <p14:sldId id="260"/>
            <p14:sldId id="261"/>
            <p14:sldId id="262"/>
            <p14:sldId id="263"/>
            <p14:sldId id="264"/>
          </p14:sldIdLst>
        </p14:section>
        <p14:section name="Doctor portal" id="{c6a3f467-1617-dea3-40ea-fe9fb75dfeb8}">
          <p14:sldIdLst>
            <p14:sldId id="265"/>
            <p14:sldId id="266"/>
            <p14:sldId id="267"/>
            <p14:sldId id="268"/>
            <p14:sldId id="269"/>
            <p14:sldId id="270"/>
            <p14:sldId id="271"/>
            <p14:sldId id="272"/>
          </p14:sldIdLst>
        </p14:section>
        <p14:section name="Admin and more" id="{128ca232-aae9-b14f-8047-fb186d94ac37}">
          <p14:sldIdLst>
            <p14:sldId id="273"/>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POC: one web app covering the components in the Doctor_Patient_App_Components document. Everything you will see runs on dummy data stored in a JSON file. There is no database. Every account signs in with the PIN 1234.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areas in one app. Every record type supports full create, read, update and delete. There is one doctor, Dr. Padmanaban, as requested. The app passed 32 API tests and 14 browser tests before this deck was made. The decisions noted in the document are applied: PIN 1234 login, face-to-face consultations only, and payments left to be decided.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sign-in page lists every account; clicking one fills it in. Reset the data before each demo so the dates line up with today. Two browser windows, one normal and one private, let you keep a patient and the doctor signed in side by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patient portal. Sign in as Ananya for an established patient, or Meera for a new patient.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Ananya's home page. Point out the family switcher under the menu, the refill reminder, the flagged cholesterol result, and the emergency notice.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tabs: medical history, allergies, medications, vitals and documents. Every entry can be added, edited and deleted. The adherence tracker cycles taken, missed and not recorded. Documents accept PDF, PNG and JPEG uploads up to 5 MB.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 in as Meera. Find a doctor, View &amp; book. Show the fee, the slot grid (Sunday is skipped because the clinic is closed), and the pre-visit questions. Send the request; it appears under Appointments as requested.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each visit the patient sees the plain-language care summary, the diagnoses, signed e-prescriptions, and lab or imaging results with out-of-range flags. The prescription carries the doctor's registration number and a simulated digital signature. Patients can rate each visit.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Privacy screen. The access log shows Dr. Padmanaban's earlier views and changes. Blocking him removes Ananya from his patient list straight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 in as padmanaban@example.com.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doctor's home page. Vikram has checked in for 10:00. Ananya is due at 10:30. Accept Meera's request here, then check in Ananya and start her consultation.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tabs: calendar, working hours, leave, and appointment types and fees. The demo fees are an integrative consultation (30 minutes, ₹1,000) and a follow-up (20 minutes, ₹600). Patient booking slots are calculated from these settings, so changes show up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single-screen record. The drug allergy badge sits next to the name. Doctors only see patients they have a care relationship with, and lose access if the patient blocks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the Hypertension review template, add a quick-text line, and code I10. Save notes. The patient snapshot on the right keeps allergies and current medicines in view while prescribing.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prescription: type Amoxicillin. The strength, dose and frequency fill in, and the allergy warning appears. Switch to Azithromycin: the interaction caution with atorvastatin appears. Tick the acknowledgement and click Sign &amp; issue. Favourite prescriptions are one click away at the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a serum creatinine order, generate the care summary, then Finalize &amp; share and Complete visit. Switch to Ananya to show the new summary and prescription under Visits &amp;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Secure messaging supports post-visit follow-up, with read receipts. Earnings and performance shows fees from completed visits, the number of consultations, average duration, no-shows, ratings and feedback. Payouts and invoices wait for the payments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 in as admin. A doctor who registers stays pending and is hidden from patient search until the admin checks the council registration and licence and clicks Verify. Admins manage users but never see clinical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layout adapts to phone screens. The menu scrolls sideways and cards stack. Every page is tested at phone width.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the document is built and working. External services are simulated so the flows work end to end. Payments are to be decided. Production sign-in, compliance, encryption at rest and health-data standards are for the next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decisions that unblock the next phase. The doctor's registration details, qualifications and clinic address are placeholders today and print on e-prescriptions, so confirming them is the first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5852160" cy="1737360"/>
          </a:xfrm>
          <a:prstGeom prst="rect">
            <a:avLst/>
          </a:prstGeom>
          <a:noFill/>
          <a:ln/>
        </p:spPr>
        <p:txBody>
          <a:bodyPr wrap="square" rtlCol="0"/>
          <a:lstStyle>
            <a:lvl1pPr algn="l" indent="0" marL="0">
              <a:buNone/>
              <a:defRPr lang="en-US" sz="4400"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640080" y="3749040"/>
            <a:ext cx="5486400" cy="1280160"/>
          </a:xfrm>
          <a:prstGeom prst="rect">
            <a:avLst/>
          </a:prstGeom>
          <a:noFill/>
          <a:ln/>
        </p:spPr>
        <p:txBody>
          <a:bodyPr wrap="square" rtlCol="0"/>
          <a:lstStyle>
            <a:lvl1pPr algn="l" indent="0" marL="0">
              <a:buNone/>
              <a:defRPr lang="en-US" sz="1800" dirty="0">
                <a:solidFill>
                  <a:schemeClr val="accent6"/>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194560"/>
            <a:ext cx="5669280" cy="1097280"/>
          </a:xfrm>
          <a:prstGeom prst="rect">
            <a:avLst/>
          </a:prstGeom>
          <a:noFill/>
          <a:ln/>
        </p:spPr>
        <p:txBody>
          <a:bodyPr wrap="square" rtlCol="0"/>
          <a:lstStyle>
            <a:lvl1pPr algn="l" indent="0" marL="0">
              <a:buNone/>
              <a:defRPr lang="en-US" sz="4400"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640080" y="3474720"/>
            <a:ext cx="5486400" cy="1463040"/>
          </a:xfrm>
          <a:prstGeom prst="rect">
            <a:avLst/>
          </a:prstGeom>
          <a:noFill/>
          <a:ln/>
        </p:spPr>
        <p:txBody>
          <a:bodyPr wrap="square" rtlCol="0"/>
          <a:lstStyle>
            <a:lvl1pPr algn="l" indent="0" marL="0">
              <a:buNone/>
              <a:defRPr lang="en-US" sz="1800" dirty="0">
                <a:solidFill>
                  <a:schemeClr val="accent6"/>
                </a:solidFill>
              </a:defRPr>
            </a:lvl1pPr>
          </a:lstStyle>
          <a:p>
            <a:pPr algn="l" indent="0" marL="0">
              <a:buNone/>
            </a:pP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40080"/>
          </a:xfrm>
          <a:prstGeom prst="rect">
            <a:avLst/>
          </a:prstGeom>
          <a:noFill/>
          <a:ln/>
        </p:spPr>
        <p:txBody>
          <a:bodyPr wrap="square" rtlCol="0"/>
          <a:lstStyle>
            <a:lvl1pPr algn="l" indent="0" marL="0">
              <a:buNone/>
              <a:defRPr lang="en-US" sz="3000" dirty="0">
                <a:solidFill>
                  <a:schemeClr val="tx1"/>
                </a:solidFill>
              </a:defRPr>
            </a:lvl1pPr>
          </a:lstStyle>
          <a:p>
            <a:pPr algn="l" indent="0" marL="0">
              <a:buNone/>
            </a:pPr>
            <a:endParaRPr lang="en-US" sz="3000" dirty="0"/>
          </a:p>
        </p:txBody>
      </p:sp>
      <p:sp>
        <p:nvSpPr>
          <p:cNvPr id="3"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900" dirty="0">
                <a:solidFill>
                  <a:schemeClr val="accent5"/>
                </a:solidFill>
              </a:rPr>
              <a:t>LK Wellness · Doctor–Patient App · POC demo</a:t>
            </a:r>
            <a:endParaRPr lang="en-US" sz="9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slideLayout" Target="../slideLayouts/slideLayout4.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jpg"/><Relationship Id="rId3" Type="http://schemas.openxmlformats.org/officeDocument/2006/relationships/slideLayout" Target="../slideLayouts/slideLayout4.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image" Target="../media/image-17-2.jpg"/><Relationship Id="rId3" Type="http://schemas.openxmlformats.org/officeDocument/2006/relationships/slideLayout" Target="../slideLayouts/slideLayout4.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image" Target="../media/image-18-2.jpg"/><Relationship Id="rId3" Type="http://schemas.openxmlformats.org/officeDocument/2006/relationships/slideLayout" Target="../slideLayouts/slideLayout4.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image" Target="../media/image-19-2.jpg"/><Relationship Id="rId3" Type="http://schemas.openxmlformats.org/officeDocument/2006/relationships/image" Target="../media/image-19-3.jpg"/><Relationship Id="rId4" Type="http://schemas.openxmlformats.org/officeDocument/2006/relationships/slideLayout" Target="../slideLayouts/slideLayout4.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640080" y="1325880"/>
            <a:ext cx="5852160" cy="320040"/>
          </a:xfrm>
          <a:prstGeom prst="rect">
            <a:avLst/>
          </a:prstGeom>
          <a:noFill/>
          <a:ln/>
        </p:spPr>
        <p:txBody>
          <a:bodyPr wrap="square" lIns="0" tIns="0" rIns="0" bIns="0" rtlCol="0" anchor="ctr"/>
          <a:lstStyle/>
          <a:p>
            <a:pPr indent="0" marL="0">
              <a:buNone/>
            </a:pPr>
            <a:r>
              <a:rPr lang="en-US" sz="1200" b="1" spc="300" kern="0" dirty="0">
                <a:solidFill>
                  <a:schemeClr val="accent6"/>
                </a:solidFill>
              </a:rPr>
              <a:t>LK WELLNESS · DOCTOR–PATIENT APP</a:t>
            </a:r>
            <a:endParaRPr lang="en-US" sz="1200" dirty="0"/>
          </a:p>
        </p:txBody>
      </p:sp>
      <p:sp>
        <p:nvSpPr>
          <p:cNvPr id="3" name="Text 0"/>
          <p:cNvSpPr/>
          <p:nvPr>
            <p:ph idx="100" type="title" hasCustomPrompt="1"/>
          </p:nvPr>
        </p:nvSpPr>
        <p:spPr>
          <a:xfrm>
            <a:off x="640080" y="1828800"/>
            <a:ext cx="5852160" cy="1737360"/>
          </a:xfrm>
          <a:prstGeom prst="rect">
            <a:avLst/>
          </a:prstGeom>
          <a:noFill/>
          <a:ln/>
        </p:spPr>
        <p:txBody>
          <a:bodyPr wrap="square" lIns="0" tIns="0" rIns="0" bIns="0" rtlCol="0" anchor="b"/>
          <a:lstStyle/>
          <a:p>
            <a:pPr algn="l" indent="0" marL="0">
              <a:buNone/>
            </a:pPr>
            <a:r>
              <a:rPr lang="en-US" sz="4400" dirty="0">
                <a:solidFill>
                  <a:schemeClr val="bg1"/>
                </a:solidFill>
              </a:rPr>
              <a:t>Proof of concept</a:t>
            </a:r>
            <a:endParaRPr lang="en-US" sz="4400" dirty="0"/>
          </a:p>
          <a:p>
            <a:pPr algn="l" indent="0" marL="0">
              <a:buNone/>
            </a:pPr>
            <a:r>
              <a:rPr lang="en-US" sz="4400" i="1" dirty="0">
                <a:solidFill>
                  <a:schemeClr val="accent6"/>
                </a:solidFill>
              </a:rPr>
              <a:t>demo</a:t>
            </a:r>
            <a:endParaRPr lang="en-US" sz="4400" dirty="0"/>
          </a:p>
        </p:txBody>
      </p:sp>
      <p:sp>
        <p:nvSpPr>
          <p:cNvPr id="4" name="Text 0"/>
          <p:cNvSpPr/>
          <p:nvPr>
            <p:ph idx="101" type="body" hasCustomPrompt="1"/>
          </p:nvPr>
        </p:nvSpPr>
        <p:spPr>
          <a:xfrm>
            <a:off x="640080" y="3749040"/>
            <a:ext cx="5486400" cy="1280160"/>
          </a:xfrm>
          <a:prstGeom prst="rect">
            <a:avLst/>
          </a:prstGeom>
          <a:noFill/>
          <a:ln/>
        </p:spPr>
        <p:txBody>
          <a:bodyPr wrap="square" lIns="0" tIns="0" rIns="0" bIns="0" rtlCol="0" anchor="t"/>
          <a:lstStyle/>
          <a:p>
            <a:pPr algn="l" indent="0" marL="0">
              <a:buNone/>
            </a:pPr>
            <a:r>
              <a:rPr lang="en-US" sz="1800" dirty="0">
                <a:solidFill>
                  <a:schemeClr val="accent6"/>
                </a:solidFill>
              </a:rPr>
              <a:t>A working patient portal, doctor portal and admin area with dummy data. Walkthrough as of 2 October 2026.</a:t>
            </a:r>
            <a:endParaRPr lang="en-US" sz="1800" dirty="0"/>
          </a:p>
        </p:txBody>
      </p:sp>
      <p:sp>
        <p:nvSpPr>
          <p:cNvPr id="5" name="Sign-in shadow"/>
          <p:cNvSpPr/>
          <p:nvPr/>
        </p:nvSpPr>
        <p:spPr>
          <a:xfrm>
            <a:off x="6903720" y="1234440"/>
            <a:ext cx="4754880" cy="3033740"/>
          </a:xfrm>
          <a:prstGeom prst="rect">
            <a:avLst/>
          </a:prstGeom>
          <a:solidFill>
            <a:schemeClr val="bg1"/>
          </a:solidFill>
          <a:ln w="12700">
            <a:solidFill>
              <a:schemeClr val="bg1"/>
            </a:solidFill>
            <a:prstDash val="solid"/>
          </a:ln>
          <a:effectLst>
            <a:outerShdw sx="100000" sy="100000" kx="0" ky="0" algn="bl" rotWithShape="0" blurRad="228600" dist="76200" dir="5400000">
              <a:srgbClr val="000000">
                <a:alpha val="35000"/>
              </a:srgbClr>
            </a:outerShdw>
          </a:effectLst>
        </p:spPr>
      </p:sp>
      <p:pic>
        <p:nvPicPr>
          <p:cNvPr id="6" name="Sign-in page" descr="Sign-in page with demo accounts">    </p:cNvPr>
          <p:cNvPicPr>
            <a:picLocks noChangeAspect="1"/>
          </p:cNvPicPr>
          <p:nvPr/>
        </p:nvPicPr>
        <p:blipFill>
          <a:blip r:embed="rId1"/>
          <a:stretch>
            <a:fillRect/>
          </a:stretch>
        </p:blipFill>
        <p:spPr>
          <a:xfrm>
            <a:off x="6903720" y="1234440"/>
            <a:ext cx="4754880" cy="3033740"/>
          </a:xfrm>
          <a:prstGeom prst="rect">
            <a:avLst/>
          </a:prstGeom>
        </p:spPr>
      </p:pic>
      <p:sp>
        <p:nvSpPr>
          <p:cNvPr id="7" name="Caption"/>
          <p:cNvSpPr txBox="1"/>
          <p:nvPr/>
        </p:nvSpPr>
        <p:spPr>
          <a:xfrm>
            <a:off x="6903720" y="4432772"/>
            <a:ext cx="4754880" cy="274320"/>
          </a:xfrm>
          <a:prstGeom prst="rect">
            <a:avLst/>
          </a:prstGeom>
          <a:noFill/>
          <a:ln/>
        </p:spPr>
        <p:txBody>
          <a:bodyPr wrap="square" lIns="0" tIns="0" rIns="0" bIns="0" rtlCol="0" anchor="ctr"/>
          <a:lstStyle/>
          <a:p>
            <a:pPr algn="ctr" indent="0" marL="0">
              <a:buNone/>
            </a:pPr>
            <a:r>
              <a:rPr lang="en-US" sz="1200" dirty="0">
                <a:solidFill>
                  <a:schemeClr val="accent6"/>
                </a:solidFill>
              </a:rPr>
              <a:t>Sign in with any demo account · PIN 1234</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AT A GLANCE</a:t>
            </a:r>
            <a:endParaRPr lang="en-US" sz="1100" dirty="0"/>
          </a:p>
        </p:txBody>
      </p:sp>
      <p:sp>
        <p:nvSpPr>
          <p:cNvPr id="3" name="Text 0"/>
          <p:cNvSpPr/>
          <p:nvPr>
            <p:ph idx="100"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dirty="0">
                <a:solidFill>
                  <a:schemeClr val="tx1"/>
                </a:solidFill>
              </a:rPr>
              <a:t>What the proof of concept covers</a:t>
            </a:r>
            <a:endParaRPr lang="en-US" sz="3000" dirty="0"/>
          </a:p>
        </p:txBody>
      </p:sp>
      <p:sp>
        <p:nvSpPr>
          <p:cNvPr id="4" name="Stat 1 card"/>
          <p:cNvSpPr/>
          <p:nvPr/>
        </p:nvSpPr>
        <p:spPr>
          <a:xfrm>
            <a:off x="548640" y="1508760"/>
            <a:ext cx="2606040" cy="2148840"/>
          </a:xfrm>
          <a:prstGeom prst="rect">
            <a:avLst/>
          </a:prstGeom>
          <a:solidFill>
            <a:schemeClr val="bg2"/>
          </a:solidFill>
          <a:ln w="12700">
            <a:solidFill>
              <a:schemeClr val="bg2"/>
            </a:solidFill>
            <a:prstDash val="solid"/>
          </a:ln>
        </p:spPr>
      </p:sp>
      <p:sp>
        <p:nvSpPr>
          <p:cNvPr id="5" name="Stat 1 value"/>
          <p:cNvSpPr txBox="1"/>
          <p:nvPr/>
        </p:nvSpPr>
        <p:spPr>
          <a:xfrm>
            <a:off x="822960" y="1691640"/>
            <a:ext cx="2057400" cy="914400"/>
          </a:xfrm>
          <a:prstGeom prst="rect">
            <a:avLst/>
          </a:prstGeom>
          <a:noFill/>
          <a:ln/>
        </p:spPr>
        <p:txBody>
          <a:bodyPr wrap="square" lIns="0" tIns="0" rIns="0" bIns="0" rtlCol="0" anchor="b"/>
          <a:lstStyle/>
          <a:p>
            <a:pPr indent="0" marL="0">
              <a:buNone/>
            </a:pPr>
            <a:r>
              <a:rPr lang="en-US" sz="6000" dirty="0">
                <a:solidFill>
                  <a:schemeClr val="accent1"/>
                </a:solidFill>
                <a:latin typeface="Cambria" pitchFamily="34" charset="0"/>
                <a:ea typeface="Cambria" pitchFamily="34" charset="-122"/>
                <a:cs typeface="Cambria" pitchFamily="34" charset="-120"/>
              </a:rPr>
              <a:t>3</a:t>
            </a:r>
            <a:endParaRPr lang="en-US" sz="6000" dirty="0"/>
          </a:p>
        </p:txBody>
      </p:sp>
      <p:sp>
        <p:nvSpPr>
          <p:cNvPr id="6" name="Stat 1 label"/>
          <p:cNvSpPr txBox="1"/>
          <p:nvPr/>
        </p:nvSpPr>
        <p:spPr>
          <a:xfrm>
            <a:off x="822960" y="2697480"/>
            <a:ext cx="2057400" cy="822960"/>
          </a:xfrm>
          <a:prstGeom prst="rect">
            <a:avLst/>
          </a:prstGeom>
          <a:noFill/>
          <a:ln/>
        </p:spPr>
        <p:txBody>
          <a:bodyPr wrap="square" lIns="0" tIns="0" rIns="0" bIns="0" rtlCol="0" anchor="t"/>
          <a:lstStyle/>
          <a:p>
            <a:pPr indent="0" marL="0">
              <a:buNone/>
            </a:pPr>
            <a:r>
              <a:rPr lang="en-US" sz="1500" b="1" dirty="0">
                <a:solidFill>
                  <a:schemeClr val="tx1"/>
                </a:solidFill>
              </a:rPr>
              <a:t>portals in one app</a:t>
            </a:r>
            <a:endParaRPr lang="en-US" sz="1500" dirty="0"/>
          </a:p>
          <a:p>
            <a:pPr indent="0" marL="0">
              <a:buNone/>
            </a:pPr>
            <a:r>
              <a:rPr lang="en-US" sz="1200" dirty="0">
                <a:solidFill>
                  <a:schemeClr val="accent5"/>
                </a:solidFill>
              </a:rPr>
              <a:t>Patient, doctor, admin</a:t>
            </a:r>
            <a:endParaRPr lang="en-US" sz="1500" dirty="0"/>
          </a:p>
        </p:txBody>
      </p:sp>
      <p:sp>
        <p:nvSpPr>
          <p:cNvPr id="7" name="Stat 2 card"/>
          <p:cNvSpPr/>
          <p:nvPr/>
        </p:nvSpPr>
        <p:spPr>
          <a:xfrm>
            <a:off x="3364992" y="1508760"/>
            <a:ext cx="2606040" cy="2148840"/>
          </a:xfrm>
          <a:prstGeom prst="rect">
            <a:avLst/>
          </a:prstGeom>
          <a:solidFill>
            <a:schemeClr val="bg2"/>
          </a:solidFill>
          <a:ln w="12700">
            <a:solidFill>
              <a:schemeClr val="bg2"/>
            </a:solidFill>
            <a:prstDash val="solid"/>
          </a:ln>
        </p:spPr>
      </p:sp>
      <p:sp>
        <p:nvSpPr>
          <p:cNvPr id="8" name="Stat 2 value"/>
          <p:cNvSpPr txBox="1"/>
          <p:nvPr/>
        </p:nvSpPr>
        <p:spPr>
          <a:xfrm>
            <a:off x="3639312" y="1691640"/>
            <a:ext cx="2057400" cy="914400"/>
          </a:xfrm>
          <a:prstGeom prst="rect">
            <a:avLst/>
          </a:prstGeom>
          <a:noFill/>
          <a:ln/>
        </p:spPr>
        <p:txBody>
          <a:bodyPr wrap="square" lIns="0" tIns="0" rIns="0" bIns="0" rtlCol="0" anchor="b"/>
          <a:lstStyle/>
          <a:p>
            <a:pPr indent="0" marL="0">
              <a:buNone/>
            </a:pPr>
            <a:r>
              <a:rPr lang="en-US" sz="6000" dirty="0">
                <a:solidFill>
                  <a:schemeClr val="accent1"/>
                </a:solidFill>
                <a:latin typeface="Cambria" pitchFamily="34" charset="0"/>
                <a:ea typeface="Cambria" pitchFamily="34" charset="-122"/>
                <a:cs typeface="Cambria" pitchFamily="34" charset="-120"/>
              </a:rPr>
              <a:t>25</a:t>
            </a:r>
            <a:endParaRPr lang="en-US" sz="6000" dirty="0"/>
          </a:p>
        </p:txBody>
      </p:sp>
      <p:sp>
        <p:nvSpPr>
          <p:cNvPr id="9" name="Stat 2 label"/>
          <p:cNvSpPr txBox="1"/>
          <p:nvPr/>
        </p:nvSpPr>
        <p:spPr>
          <a:xfrm>
            <a:off x="3639312" y="2697480"/>
            <a:ext cx="2057400" cy="822960"/>
          </a:xfrm>
          <a:prstGeom prst="rect">
            <a:avLst/>
          </a:prstGeom>
          <a:noFill/>
          <a:ln/>
        </p:spPr>
        <p:txBody>
          <a:bodyPr wrap="square" lIns="0" tIns="0" rIns="0" bIns="0" rtlCol="0" anchor="t"/>
          <a:lstStyle/>
          <a:p>
            <a:pPr indent="0" marL="0">
              <a:buNone/>
            </a:pPr>
            <a:r>
              <a:rPr lang="en-US" sz="1500" b="1" dirty="0">
                <a:solidFill>
                  <a:schemeClr val="tx1"/>
                </a:solidFill>
              </a:rPr>
              <a:t>record types</a:t>
            </a:r>
            <a:endParaRPr lang="en-US" sz="1500" dirty="0"/>
          </a:p>
          <a:p>
            <a:pPr indent="0" marL="0">
              <a:buNone/>
            </a:pPr>
            <a:r>
              <a:rPr lang="en-US" sz="1200" dirty="0">
                <a:solidFill>
                  <a:schemeClr val="accent5"/>
                </a:solidFill>
              </a:rPr>
              <a:t>Each can be created, viewed, edited and deleted</a:t>
            </a:r>
            <a:endParaRPr lang="en-US" sz="1500" dirty="0"/>
          </a:p>
        </p:txBody>
      </p:sp>
      <p:sp>
        <p:nvSpPr>
          <p:cNvPr id="10" name="Stat 3 card"/>
          <p:cNvSpPr/>
          <p:nvPr/>
        </p:nvSpPr>
        <p:spPr>
          <a:xfrm>
            <a:off x="6181344" y="1508760"/>
            <a:ext cx="2606040" cy="2148840"/>
          </a:xfrm>
          <a:prstGeom prst="rect">
            <a:avLst/>
          </a:prstGeom>
          <a:solidFill>
            <a:schemeClr val="bg2"/>
          </a:solidFill>
          <a:ln w="12700">
            <a:solidFill>
              <a:schemeClr val="bg2"/>
            </a:solidFill>
            <a:prstDash val="solid"/>
          </a:ln>
        </p:spPr>
      </p:sp>
      <p:sp>
        <p:nvSpPr>
          <p:cNvPr id="11" name="Stat 3 value"/>
          <p:cNvSpPr txBox="1"/>
          <p:nvPr/>
        </p:nvSpPr>
        <p:spPr>
          <a:xfrm>
            <a:off x="6455664" y="1691640"/>
            <a:ext cx="2057400" cy="914400"/>
          </a:xfrm>
          <a:prstGeom prst="rect">
            <a:avLst/>
          </a:prstGeom>
          <a:noFill/>
          <a:ln/>
        </p:spPr>
        <p:txBody>
          <a:bodyPr wrap="square" lIns="0" tIns="0" rIns="0" bIns="0" rtlCol="0" anchor="b"/>
          <a:lstStyle/>
          <a:p>
            <a:pPr indent="0" marL="0">
              <a:buNone/>
            </a:pPr>
            <a:r>
              <a:rPr lang="en-US" sz="6000" dirty="0">
                <a:solidFill>
                  <a:schemeClr val="accent1"/>
                </a:solidFill>
                <a:latin typeface="Cambria" pitchFamily="34" charset="0"/>
                <a:ea typeface="Cambria" pitchFamily="34" charset="-122"/>
                <a:cs typeface="Cambria" pitchFamily="34" charset="-120"/>
              </a:rPr>
              <a:t>1</a:t>
            </a:r>
            <a:endParaRPr lang="en-US" sz="6000" dirty="0"/>
          </a:p>
        </p:txBody>
      </p:sp>
      <p:sp>
        <p:nvSpPr>
          <p:cNvPr id="12" name="Stat 3 label"/>
          <p:cNvSpPr txBox="1"/>
          <p:nvPr/>
        </p:nvSpPr>
        <p:spPr>
          <a:xfrm>
            <a:off x="6455664" y="2697480"/>
            <a:ext cx="2057400" cy="822960"/>
          </a:xfrm>
          <a:prstGeom prst="rect">
            <a:avLst/>
          </a:prstGeom>
          <a:noFill/>
          <a:ln/>
        </p:spPr>
        <p:txBody>
          <a:bodyPr wrap="square" lIns="0" tIns="0" rIns="0" bIns="0" rtlCol="0" anchor="t"/>
          <a:lstStyle/>
          <a:p>
            <a:pPr indent="0" marL="0">
              <a:buNone/>
            </a:pPr>
            <a:r>
              <a:rPr lang="en-US" sz="1500" b="1" dirty="0">
                <a:solidFill>
                  <a:schemeClr val="tx1"/>
                </a:solidFill>
              </a:rPr>
              <a:t>doctor</a:t>
            </a:r>
            <a:endParaRPr lang="en-US" sz="1500" dirty="0"/>
          </a:p>
          <a:p>
            <a:pPr indent="0" marL="0">
              <a:buNone/>
            </a:pPr>
            <a:r>
              <a:rPr lang="en-US" sz="1200" dirty="0">
                <a:solidFill>
                  <a:schemeClr val="accent5"/>
                </a:solidFill>
              </a:rPr>
              <a:t>Dr. Padmanaban, Integrative Expert Practitioner</a:t>
            </a:r>
            <a:endParaRPr lang="en-US" sz="1500" dirty="0"/>
          </a:p>
        </p:txBody>
      </p:sp>
      <p:sp>
        <p:nvSpPr>
          <p:cNvPr id="13" name="Stat 4 card"/>
          <p:cNvSpPr/>
          <p:nvPr/>
        </p:nvSpPr>
        <p:spPr>
          <a:xfrm>
            <a:off x="8997696" y="1508760"/>
            <a:ext cx="2606040" cy="2148840"/>
          </a:xfrm>
          <a:prstGeom prst="rect">
            <a:avLst/>
          </a:prstGeom>
          <a:solidFill>
            <a:schemeClr val="bg2"/>
          </a:solidFill>
          <a:ln w="12700">
            <a:solidFill>
              <a:schemeClr val="bg2"/>
            </a:solidFill>
            <a:prstDash val="solid"/>
          </a:ln>
        </p:spPr>
      </p:sp>
      <p:sp>
        <p:nvSpPr>
          <p:cNvPr id="14" name="Stat 4 value"/>
          <p:cNvSpPr txBox="1"/>
          <p:nvPr/>
        </p:nvSpPr>
        <p:spPr>
          <a:xfrm>
            <a:off x="9272016" y="1691640"/>
            <a:ext cx="2057400" cy="914400"/>
          </a:xfrm>
          <a:prstGeom prst="rect">
            <a:avLst/>
          </a:prstGeom>
          <a:noFill/>
          <a:ln/>
        </p:spPr>
        <p:txBody>
          <a:bodyPr wrap="square" lIns="0" tIns="0" rIns="0" bIns="0" rtlCol="0" anchor="b"/>
          <a:lstStyle/>
          <a:p>
            <a:pPr indent="0" marL="0">
              <a:buNone/>
            </a:pPr>
            <a:r>
              <a:rPr lang="en-US" sz="6000" dirty="0">
                <a:solidFill>
                  <a:schemeClr val="accent1"/>
                </a:solidFill>
                <a:latin typeface="Cambria" pitchFamily="34" charset="0"/>
                <a:ea typeface="Cambria" pitchFamily="34" charset="-122"/>
                <a:cs typeface="Cambria" pitchFamily="34" charset="-120"/>
              </a:rPr>
              <a:t>46</a:t>
            </a:r>
            <a:endParaRPr lang="en-US" sz="6000" dirty="0"/>
          </a:p>
        </p:txBody>
      </p:sp>
      <p:sp>
        <p:nvSpPr>
          <p:cNvPr id="15" name="Stat 4 label"/>
          <p:cNvSpPr txBox="1"/>
          <p:nvPr/>
        </p:nvSpPr>
        <p:spPr>
          <a:xfrm>
            <a:off x="9272016" y="2697480"/>
            <a:ext cx="2057400" cy="822960"/>
          </a:xfrm>
          <a:prstGeom prst="rect">
            <a:avLst/>
          </a:prstGeom>
          <a:noFill/>
          <a:ln/>
        </p:spPr>
        <p:txBody>
          <a:bodyPr wrap="square" lIns="0" tIns="0" rIns="0" bIns="0" rtlCol="0" anchor="t"/>
          <a:lstStyle/>
          <a:p>
            <a:pPr indent="0" marL="0">
              <a:buNone/>
            </a:pPr>
            <a:r>
              <a:rPr lang="en-US" sz="1500" b="1" dirty="0">
                <a:solidFill>
                  <a:schemeClr val="tx1"/>
                </a:solidFill>
              </a:rPr>
              <a:t>automated tests passing</a:t>
            </a:r>
            <a:endParaRPr lang="en-US" sz="1500" dirty="0"/>
          </a:p>
          <a:p>
            <a:pPr indent="0" marL="0">
              <a:buNone/>
            </a:pPr>
            <a:r>
              <a:rPr lang="en-US" sz="1200" dirty="0">
                <a:solidFill>
                  <a:schemeClr val="accent5"/>
                </a:solidFill>
              </a:rPr>
              <a:t>32 API tests and 14 browser tests</a:t>
            </a:r>
            <a:endParaRPr lang="en-US" sz="1500" dirty="0"/>
          </a:p>
        </p:txBody>
      </p:sp>
      <p:sp>
        <p:nvSpPr>
          <p:cNvPr id="16" name="Decisions heading"/>
          <p:cNvSpPr txBox="1"/>
          <p:nvPr/>
        </p:nvSpPr>
        <p:spPr>
          <a:xfrm>
            <a:off x="548640" y="4023360"/>
            <a:ext cx="10972800" cy="365760"/>
          </a:xfrm>
          <a:prstGeom prst="rect">
            <a:avLst/>
          </a:prstGeom>
          <a:noFill/>
          <a:ln/>
        </p:spPr>
        <p:txBody>
          <a:bodyPr wrap="square" lIns="0" tIns="0" rIns="0" bIns="0" rtlCol="0" anchor="ctr"/>
          <a:lstStyle/>
          <a:p>
            <a:pPr indent="0" marL="0">
              <a:buNone/>
            </a:pPr>
            <a:r>
              <a:rPr lang="en-US" sz="1800" b="1" dirty="0">
                <a:solidFill>
                  <a:schemeClr val="tx1"/>
                </a:solidFill>
              </a:rPr>
              <a:t>Decisions applied from the components document</a:t>
            </a:r>
            <a:endParaRPr lang="en-US" sz="1800" dirty="0"/>
          </a:p>
        </p:txBody>
      </p:sp>
      <p:sp>
        <p:nvSpPr>
          <p:cNvPr id="17" name="Decision 1 card"/>
          <p:cNvSpPr/>
          <p:nvPr/>
        </p:nvSpPr>
        <p:spPr>
          <a:xfrm>
            <a:off x="548640" y="4572000"/>
            <a:ext cx="2606040" cy="1325880"/>
          </a:xfrm>
          <a:prstGeom prst="roundRect">
            <a:avLst>
              <a:gd name="adj" fmla="val 5517"/>
            </a:avLst>
          </a:prstGeom>
          <a:solidFill>
            <a:schemeClr val="accent6"/>
          </a:solidFill>
          <a:ln w="12700">
            <a:solidFill>
              <a:schemeClr val="accent6"/>
            </a:solidFill>
            <a:prstDash val="solid"/>
          </a:ln>
        </p:spPr>
      </p:sp>
      <p:sp>
        <p:nvSpPr>
          <p:cNvPr id="18" name="Decision 1"/>
          <p:cNvSpPr txBox="1"/>
          <p:nvPr/>
        </p:nvSpPr>
        <p:spPr>
          <a:xfrm>
            <a:off x="777240" y="4736592"/>
            <a:ext cx="2148840" cy="1005840"/>
          </a:xfrm>
          <a:prstGeom prst="rect">
            <a:avLst/>
          </a:prstGeom>
          <a:noFill/>
          <a:ln/>
        </p:spPr>
        <p:txBody>
          <a:bodyPr wrap="square" lIns="0" tIns="0" rIns="0" bIns="0" rtlCol="0" anchor="t"/>
          <a:lstStyle/>
          <a:p>
            <a:pPr indent="0" marL="0">
              <a:buNone/>
            </a:pPr>
            <a:r>
              <a:rPr lang="en-US" sz="1500" b="1" dirty="0">
                <a:solidFill>
                  <a:schemeClr val="accent1"/>
                </a:solidFill>
              </a:rPr>
              <a:t>PIN 1234 login</a:t>
            </a:r>
            <a:endParaRPr lang="en-US" sz="1500" dirty="0"/>
          </a:p>
          <a:p>
            <a:pPr indent="0" marL="0">
              <a:buNone/>
            </a:pPr>
            <a:r>
              <a:rPr lang="en-US" sz="1200" dirty="0">
                <a:solidFill>
                  <a:schemeClr val="tx1"/>
                </a:solidFill>
              </a:rPr>
              <a:t>for every demo account; OTP and biometrics come later</a:t>
            </a:r>
            <a:endParaRPr lang="en-US" sz="1500" dirty="0"/>
          </a:p>
        </p:txBody>
      </p:sp>
      <p:sp>
        <p:nvSpPr>
          <p:cNvPr id="19" name="Decision 2 card"/>
          <p:cNvSpPr/>
          <p:nvPr/>
        </p:nvSpPr>
        <p:spPr>
          <a:xfrm>
            <a:off x="3364992" y="4572000"/>
            <a:ext cx="2606040" cy="1325880"/>
          </a:xfrm>
          <a:prstGeom prst="roundRect">
            <a:avLst>
              <a:gd name="adj" fmla="val 5517"/>
            </a:avLst>
          </a:prstGeom>
          <a:solidFill>
            <a:schemeClr val="accent6"/>
          </a:solidFill>
          <a:ln w="12700">
            <a:solidFill>
              <a:schemeClr val="accent6"/>
            </a:solidFill>
            <a:prstDash val="solid"/>
          </a:ln>
        </p:spPr>
      </p:sp>
      <p:sp>
        <p:nvSpPr>
          <p:cNvPr id="20" name="Decision 2"/>
          <p:cNvSpPr txBox="1"/>
          <p:nvPr/>
        </p:nvSpPr>
        <p:spPr>
          <a:xfrm>
            <a:off x="3593592" y="4736592"/>
            <a:ext cx="2148840" cy="1005840"/>
          </a:xfrm>
          <a:prstGeom prst="rect">
            <a:avLst/>
          </a:prstGeom>
          <a:noFill/>
          <a:ln/>
        </p:spPr>
        <p:txBody>
          <a:bodyPr wrap="square" lIns="0" tIns="0" rIns="0" bIns="0" rtlCol="0" anchor="t"/>
          <a:lstStyle/>
          <a:p>
            <a:pPr indent="0" marL="0">
              <a:buNone/>
            </a:pPr>
            <a:r>
              <a:rPr lang="en-US" sz="1500" b="1" dirty="0">
                <a:solidFill>
                  <a:schemeClr val="accent1"/>
                </a:solidFill>
              </a:rPr>
              <a:t>Face-to-face only</a:t>
            </a:r>
            <a:endParaRPr lang="en-US" sz="1500" dirty="0"/>
          </a:p>
          <a:p>
            <a:pPr indent="0" marL="0">
              <a:buNone/>
            </a:pPr>
            <a:r>
              <a:rPr lang="en-US" sz="1200" dirty="0">
                <a:solidFill>
                  <a:schemeClr val="tx1"/>
                </a:solidFill>
              </a:rPr>
              <a:t>check-in on arrival replaces the video waiting room</a:t>
            </a:r>
            <a:endParaRPr lang="en-US" sz="1500" dirty="0"/>
          </a:p>
        </p:txBody>
      </p:sp>
      <p:sp>
        <p:nvSpPr>
          <p:cNvPr id="21" name="Decision 3 card"/>
          <p:cNvSpPr/>
          <p:nvPr/>
        </p:nvSpPr>
        <p:spPr>
          <a:xfrm>
            <a:off x="6181344" y="4572000"/>
            <a:ext cx="2606040" cy="1325880"/>
          </a:xfrm>
          <a:prstGeom prst="roundRect">
            <a:avLst>
              <a:gd name="adj" fmla="val 5517"/>
            </a:avLst>
          </a:prstGeom>
          <a:solidFill>
            <a:schemeClr val="accent6"/>
          </a:solidFill>
          <a:ln w="12700">
            <a:solidFill>
              <a:schemeClr val="accent6"/>
            </a:solidFill>
            <a:prstDash val="solid"/>
          </a:ln>
        </p:spPr>
      </p:sp>
      <p:sp>
        <p:nvSpPr>
          <p:cNvPr id="22" name="Decision 3"/>
          <p:cNvSpPr txBox="1"/>
          <p:nvPr/>
        </p:nvSpPr>
        <p:spPr>
          <a:xfrm>
            <a:off x="6409944" y="4736592"/>
            <a:ext cx="2148840" cy="1005840"/>
          </a:xfrm>
          <a:prstGeom prst="rect">
            <a:avLst/>
          </a:prstGeom>
          <a:noFill/>
          <a:ln/>
        </p:spPr>
        <p:txBody>
          <a:bodyPr wrap="square" lIns="0" tIns="0" rIns="0" bIns="0" rtlCol="0" anchor="t"/>
          <a:lstStyle/>
          <a:p>
            <a:pPr indent="0" marL="0">
              <a:buNone/>
            </a:pPr>
            <a:r>
              <a:rPr lang="en-US" sz="1500" b="1" dirty="0">
                <a:solidFill>
                  <a:schemeClr val="accent1"/>
                </a:solidFill>
              </a:rPr>
              <a:t>Payments to be decided</a:t>
            </a:r>
            <a:endParaRPr lang="en-US" sz="1500" dirty="0"/>
          </a:p>
          <a:p>
            <a:pPr indent="0" marL="0">
              <a:buNone/>
            </a:pPr>
            <a:r>
              <a:rPr lang="en-US" sz="1200" dirty="0">
                <a:solidFill>
                  <a:schemeClr val="tx1"/>
                </a:solidFill>
              </a:rPr>
              <a:t>fees are shown; payment is collected at the clinic</a:t>
            </a:r>
            <a:endParaRPr lang="en-US" sz="1500" dirty="0"/>
          </a:p>
        </p:txBody>
      </p:sp>
      <p:sp>
        <p:nvSpPr>
          <p:cNvPr id="23" name="Decision 4 card"/>
          <p:cNvSpPr/>
          <p:nvPr/>
        </p:nvSpPr>
        <p:spPr>
          <a:xfrm>
            <a:off x="8997696" y="4572000"/>
            <a:ext cx="2606040" cy="1325880"/>
          </a:xfrm>
          <a:prstGeom prst="roundRect">
            <a:avLst>
              <a:gd name="adj" fmla="val 5517"/>
            </a:avLst>
          </a:prstGeom>
          <a:solidFill>
            <a:schemeClr val="accent6"/>
          </a:solidFill>
          <a:ln w="12700">
            <a:solidFill>
              <a:schemeClr val="accent6"/>
            </a:solidFill>
            <a:prstDash val="solid"/>
          </a:ln>
        </p:spPr>
      </p:sp>
      <p:sp>
        <p:nvSpPr>
          <p:cNvPr id="24" name="Decision 4"/>
          <p:cNvSpPr txBox="1"/>
          <p:nvPr/>
        </p:nvSpPr>
        <p:spPr>
          <a:xfrm>
            <a:off x="9226296" y="4736592"/>
            <a:ext cx="2148840" cy="1005840"/>
          </a:xfrm>
          <a:prstGeom prst="rect">
            <a:avLst/>
          </a:prstGeom>
          <a:noFill/>
          <a:ln/>
        </p:spPr>
        <p:txBody>
          <a:bodyPr wrap="square" lIns="0" tIns="0" rIns="0" bIns="0" rtlCol="0" anchor="t"/>
          <a:lstStyle/>
          <a:p>
            <a:pPr indent="0" marL="0">
              <a:buNone/>
            </a:pPr>
            <a:r>
              <a:rPr lang="en-US" sz="1500" b="1" dirty="0">
                <a:solidFill>
                  <a:schemeClr val="accent1"/>
                </a:solidFill>
              </a:rPr>
              <a:t>No database</a:t>
            </a:r>
            <a:endParaRPr lang="en-US" sz="1500" dirty="0"/>
          </a:p>
          <a:p>
            <a:pPr indent="0" marL="0">
              <a:buNone/>
            </a:pPr>
            <a:r>
              <a:rPr lang="en-US" sz="1200" dirty="0">
                <a:solidFill>
                  <a:schemeClr val="tx1"/>
                </a:solidFill>
              </a:rPr>
              <a:t>one JSON file of dummy data, reset at any time</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BEFORE THE DEMO</a:t>
            </a:r>
            <a:endParaRPr lang="en-US" sz="1100" dirty="0"/>
          </a:p>
        </p:txBody>
      </p:sp>
      <p:sp>
        <p:nvSpPr>
          <p:cNvPr id="3" name="Text 0"/>
          <p:cNvSpPr/>
          <p:nvPr>
            <p:ph idx="100"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dirty="0">
                <a:solidFill>
                  <a:schemeClr val="tx1"/>
                </a:solidFill>
              </a:rPr>
              <a:t>Demo accounts: every one uses PIN 1234</a:t>
            </a:r>
            <a:endParaRPr lang="en-US" sz="3000" dirty="0"/>
          </a:p>
        </p:txBody>
      </p:sp>
      <p:sp>
        <p:nvSpPr>
          <p:cNvPr id="4" name="Account 1 row"/>
          <p:cNvSpPr/>
          <p:nvPr/>
        </p:nvSpPr>
        <p:spPr>
          <a:xfrm>
            <a:off x="548640" y="1463040"/>
            <a:ext cx="6949440" cy="676656"/>
          </a:xfrm>
          <a:prstGeom prst="rect">
            <a:avLst/>
          </a:prstGeom>
          <a:solidFill>
            <a:schemeClr val="bg2"/>
          </a:solidFill>
          <a:ln w="12700">
            <a:solidFill>
              <a:schemeClr val="bg2"/>
            </a:solidFill>
            <a:prstDash val="solid"/>
          </a:ln>
        </p:spPr>
      </p:sp>
      <p:sp>
        <p:nvSpPr>
          <p:cNvPr id="5" name="Account 1 name"/>
          <p:cNvSpPr txBox="1"/>
          <p:nvPr/>
        </p:nvSpPr>
        <p:spPr>
          <a:xfrm>
            <a:off x="731520" y="1536192"/>
            <a:ext cx="2743200" cy="548640"/>
          </a:xfrm>
          <a:prstGeom prst="rect">
            <a:avLst/>
          </a:prstGeom>
          <a:noFill/>
          <a:ln/>
        </p:spPr>
        <p:txBody>
          <a:bodyPr wrap="square" lIns="0" tIns="0" rIns="0" bIns="0" rtlCol="0" anchor="ctr"/>
          <a:lstStyle/>
          <a:p>
            <a:pPr indent="0" marL="0">
              <a:buNone/>
            </a:pPr>
            <a:r>
              <a:rPr lang="en-US" sz="1500" b="1" dirty="0">
                <a:solidFill>
                  <a:schemeClr val="tx1"/>
                </a:solidFill>
              </a:rPr>
              <a:t>Ananya Rao</a:t>
            </a:r>
            <a:endParaRPr lang="en-US" sz="1500" dirty="0"/>
          </a:p>
          <a:p>
            <a:pPr indent="0" marL="0">
              <a:buNone/>
            </a:pPr>
            <a:r>
              <a:rPr lang="en-US" sz="1200" dirty="0">
                <a:solidFill>
                  <a:schemeClr val="accent5"/>
                </a:solidFill>
              </a:rPr>
              <a:t>ananya@example.com</a:t>
            </a:r>
            <a:endParaRPr lang="en-US" sz="1500" dirty="0"/>
          </a:p>
        </p:txBody>
      </p:sp>
      <p:sp>
        <p:nvSpPr>
          <p:cNvPr id="6" name="Chip Patient"/>
          <p:cNvSpPr/>
          <p:nvPr/>
        </p:nvSpPr>
        <p:spPr>
          <a:xfrm>
            <a:off x="3520440" y="1609344"/>
            <a:ext cx="960120" cy="384048"/>
          </a:xfrm>
          <a:prstGeom prst="roundRect">
            <a:avLst>
              <a:gd name="adj" fmla="val 50000"/>
            </a:avLst>
          </a:prstGeom>
          <a:solidFill>
            <a:schemeClr val="accent6"/>
          </a:solidFill>
          <a:ln w="12700">
            <a:solidFill>
              <a:schemeClr val="accent6"/>
            </a:solidFill>
            <a:prstDash val="solid"/>
          </a:ln>
        </p:spPr>
      </p:sp>
      <p:sp>
        <p:nvSpPr>
          <p:cNvPr id="7" name="Chip Patient label"/>
          <p:cNvSpPr txBox="1"/>
          <p:nvPr/>
        </p:nvSpPr>
        <p:spPr>
          <a:xfrm>
            <a:off x="3520440" y="1609344"/>
            <a:ext cx="960120" cy="384048"/>
          </a:xfrm>
          <a:prstGeom prst="rect">
            <a:avLst/>
          </a:prstGeom>
          <a:noFill/>
          <a:ln/>
        </p:spPr>
        <p:txBody>
          <a:bodyPr wrap="square" lIns="0" tIns="0" rIns="0" bIns="0" rtlCol="0" anchor="ctr"/>
          <a:lstStyle/>
          <a:p>
            <a:pPr algn="ctr" indent="0" marL="0">
              <a:buNone/>
            </a:pPr>
            <a:r>
              <a:rPr lang="en-US" sz="1200" b="1" dirty="0">
                <a:solidFill>
                  <a:schemeClr val="accent1"/>
                </a:solidFill>
              </a:rPr>
              <a:t>Patient</a:t>
            </a:r>
            <a:endParaRPr lang="en-US" sz="1200" dirty="0"/>
          </a:p>
        </p:txBody>
      </p:sp>
      <p:sp>
        <p:nvSpPr>
          <p:cNvPr id="8" name="Account 1 use"/>
          <p:cNvSpPr txBox="1"/>
          <p:nvPr/>
        </p:nvSpPr>
        <p:spPr>
          <a:xfrm>
            <a:off x="4663440" y="1536192"/>
            <a:ext cx="2743200" cy="548640"/>
          </a:xfrm>
          <a:prstGeom prst="rect">
            <a:avLst/>
          </a:prstGeom>
          <a:noFill/>
          <a:ln/>
        </p:spPr>
        <p:txBody>
          <a:bodyPr wrap="square" lIns="0" tIns="0" rIns="0" bIns="0" rtlCol="0" anchor="ctr"/>
          <a:lstStyle/>
          <a:p>
            <a:pPr indent="0" marL="0">
              <a:buNone/>
            </a:pPr>
            <a:r>
              <a:rPr lang="en-US" sz="1200" dirty="0">
                <a:solidFill>
                  <a:schemeClr val="tx1"/>
                </a:solidFill>
              </a:rPr>
              <a:t>Rich history, a son (Aarav), a visit today at 10:30</a:t>
            </a:r>
            <a:endParaRPr lang="en-US" sz="1200" dirty="0"/>
          </a:p>
        </p:txBody>
      </p:sp>
      <p:sp>
        <p:nvSpPr>
          <p:cNvPr id="9" name="Account 2 row"/>
          <p:cNvSpPr/>
          <p:nvPr/>
        </p:nvSpPr>
        <p:spPr>
          <a:xfrm>
            <a:off x="548640" y="2249424"/>
            <a:ext cx="6949440" cy="676656"/>
          </a:xfrm>
          <a:prstGeom prst="rect">
            <a:avLst/>
          </a:prstGeom>
          <a:solidFill>
            <a:schemeClr val="bg1"/>
          </a:solidFill>
          <a:ln w="12700">
            <a:solidFill>
              <a:schemeClr val="bg2"/>
            </a:solidFill>
            <a:prstDash val="solid"/>
          </a:ln>
        </p:spPr>
      </p:sp>
      <p:sp>
        <p:nvSpPr>
          <p:cNvPr id="10" name="Account 2 name"/>
          <p:cNvSpPr txBox="1"/>
          <p:nvPr/>
        </p:nvSpPr>
        <p:spPr>
          <a:xfrm>
            <a:off x="731520" y="2322576"/>
            <a:ext cx="2743200" cy="548640"/>
          </a:xfrm>
          <a:prstGeom prst="rect">
            <a:avLst/>
          </a:prstGeom>
          <a:noFill/>
          <a:ln/>
        </p:spPr>
        <p:txBody>
          <a:bodyPr wrap="square" lIns="0" tIns="0" rIns="0" bIns="0" rtlCol="0" anchor="ctr"/>
          <a:lstStyle/>
          <a:p>
            <a:pPr indent="0" marL="0">
              <a:buNone/>
            </a:pPr>
            <a:r>
              <a:rPr lang="en-US" sz="1500" b="1" dirty="0">
                <a:solidFill>
                  <a:schemeClr val="tx1"/>
                </a:solidFill>
              </a:rPr>
              <a:t>Vikram Shah</a:t>
            </a:r>
            <a:endParaRPr lang="en-US" sz="1500" dirty="0"/>
          </a:p>
          <a:p>
            <a:pPr indent="0" marL="0">
              <a:buNone/>
            </a:pPr>
            <a:r>
              <a:rPr lang="en-US" sz="1200" dirty="0">
                <a:solidFill>
                  <a:schemeClr val="accent5"/>
                </a:solidFill>
              </a:rPr>
              <a:t>vikram@example.com</a:t>
            </a:r>
            <a:endParaRPr lang="en-US" sz="1500" dirty="0"/>
          </a:p>
        </p:txBody>
      </p:sp>
      <p:sp>
        <p:nvSpPr>
          <p:cNvPr id="11" name="Chip Patient"/>
          <p:cNvSpPr/>
          <p:nvPr/>
        </p:nvSpPr>
        <p:spPr>
          <a:xfrm>
            <a:off x="3520440" y="2395728"/>
            <a:ext cx="960120" cy="384048"/>
          </a:xfrm>
          <a:prstGeom prst="roundRect">
            <a:avLst>
              <a:gd name="adj" fmla="val 50000"/>
            </a:avLst>
          </a:prstGeom>
          <a:solidFill>
            <a:schemeClr val="accent6"/>
          </a:solidFill>
          <a:ln w="12700">
            <a:solidFill>
              <a:schemeClr val="accent6"/>
            </a:solidFill>
            <a:prstDash val="solid"/>
          </a:ln>
        </p:spPr>
      </p:sp>
      <p:sp>
        <p:nvSpPr>
          <p:cNvPr id="12" name="Chip Patient label"/>
          <p:cNvSpPr txBox="1"/>
          <p:nvPr/>
        </p:nvSpPr>
        <p:spPr>
          <a:xfrm>
            <a:off x="3520440" y="2395728"/>
            <a:ext cx="960120" cy="384048"/>
          </a:xfrm>
          <a:prstGeom prst="rect">
            <a:avLst/>
          </a:prstGeom>
          <a:noFill/>
          <a:ln/>
        </p:spPr>
        <p:txBody>
          <a:bodyPr wrap="square" lIns="0" tIns="0" rIns="0" bIns="0" rtlCol="0" anchor="ctr"/>
          <a:lstStyle/>
          <a:p>
            <a:pPr algn="ctr" indent="0" marL="0">
              <a:buNone/>
            </a:pPr>
            <a:r>
              <a:rPr lang="en-US" sz="1200" b="1" dirty="0">
                <a:solidFill>
                  <a:schemeClr val="accent1"/>
                </a:solidFill>
              </a:rPr>
              <a:t>Patient</a:t>
            </a:r>
            <a:endParaRPr lang="en-US" sz="1200" dirty="0"/>
          </a:p>
        </p:txBody>
      </p:sp>
      <p:sp>
        <p:nvSpPr>
          <p:cNvPr id="13" name="Account 2 use"/>
          <p:cNvSpPr txBox="1"/>
          <p:nvPr/>
        </p:nvSpPr>
        <p:spPr>
          <a:xfrm>
            <a:off x="4663440" y="2322576"/>
            <a:ext cx="2743200" cy="548640"/>
          </a:xfrm>
          <a:prstGeom prst="rect">
            <a:avLst/>
          </a:prstGeom>
          <a:noFill/>
          <a:ln/>
        </p:spPr>
        <p:txBody>
          <a:bodyPr wrap="square" lIns="0" tIns="0" rIns="0" bIns="0" rtlCol="0" anchor="ctr"/>
          <a:lstStyle/>
          <a:p>
            <a:pPr indent="0" marL="0">
              <a:buNone/>
            </a:pPr>
            <a:r>
              <a:rPr lang="en-US" sz="1200" dirty="0">
                <a:solidFill>
                  <a:schemeClr val="tx1"/>
                </a:solidFill>
              </a:rPr>
              <a:t>Diabetes; already checked in for 10:00 today</a:t>
            </a:r>
            <a:endParaRPr lang="en-US" sz="1200" dirty="0"/>
          </a:p>
        </p:txBody>
      </p:sp>
      <p:sp>
        <p:nvSpPr>
          <p:cNvPr id="14" name="Account 3 row"/>
          <p:cNvSpPr/>
          <p:nvPr/>
        </p:nvSpPr>
        <p:spPr>
          <a:xfrm>
            <a:off x="548640" y="3035808"/>
            <a:ext cx="6949440" cy="676656"/>
          </a:xfrm>
          <a:prstGeom prst="rect">
            <a:avLst/>
          </a:prstGeom>
          <a:solidFill>
            <a:schemeClr val="bg2"/>
          </a:solidFill>
          <a:ln w="12700">
            <a:solidFill>
              <a:schemeClr val="bg2"/>
            </a:solidFill>
            <a:prstDash val="solid"/>
          </a:ln>
        </p:spPr>
      </p:sp>
      <p:sp>
        <p:nvSpPr>
          <p:cNvPr id="15" name="Account 3 name"/>
          <p:cNvSpPr txBox="1"/>
          <p:nvPr/>
        </p:nvSpPr>
        <p:spPr>
          <a:xfrm>
            <a:off x="731520" y="3108960"/>
            <a:ext cx="2743200" cy="548640"/>
          </a:xfrm>
          <a:prstGeom prst="rect">
            <a:avLst/>
          </a:prstGeom>
          <a:noFill/>
          <a:ln/>
        </p:spPr>
        <p:txBody>
          <a:bodyPr wrap="square" lIns="0" tIns="0" rIns="0" bIns="0" rtlCol="0" anchor="ctr"/>
          <a:lstStyle/>
          <a:p>
            <a:pPr indent="0" marL="0">
              <a:buNone/>
            </a:pPr>
            <a:r>
              <a:rPr lang="en-US" sz="1500" b="1" dirty="0">
                <a:solidFill>
                  <a:schemeClr val="tx1"/>
                </a:solidFill>
              </a:rPr>
              <a:t>Meera Iyer</a:t>
            </a:r>
            <a:endParaRPr lang="en-US" sz="1500" dirty="0"/>
          </a:p>
          <a:p>
            <a:pPr indent="0" marL="0">
              <a:buNone/>
            </a:pPr>
            <a:r>
              <a:rPr lang="en-US" sz="1200" dirty="0">
                <a:solidFill>
                  <a:schemeClr val="accent5"/>
                </a:solidFill>
              </a:rPr>
              <a:t>meera@example.com</a:t>
            </a:r>
            <a:endParaRPr lang="en-US" sz="1500" dirty="0"/>
          </a:p>
        </p:txBody>
      </p:sp>
      <p:sp>
        <p:nvSpPr>
          <p:cNvPr id="16" name="Chip Patient"/>
          <p:cNvSpPr/>
          <p:nvPr/>
        </p:nvSpPr>
        <p:spPr>
          <a:xfrm>
            <a:off x="3520440" y="3182112"/>
            <a:ext cx="960120" cy="384048"/>
          </a:xfrm>
          <a:prstGeom prst="roundRect">
            <a:avLst>
              <a:gd name="adj" fmla="val 50000"/>
            </a:avLst>
          </a:prstGeom>
          <a:solidFill>
            <a:schemeClr val="accent6"/>
          </a:solidFill>
          <a:ln w="12700">
            <a:solidFill>
              <a:schemeClr val="accent6"/>
            </a:solidFill>
            <a:prstDash val="solid"/>
          </a:ln>
        </p:spPr>
      </p:sp>
      <p:sp>
        <p:nvSpPr>
          <p:cNvPr id="17" name="Chip Patient label"/>
          <p:cNvSpPr txBox="1"/>
          <p:nvPr/>
        </p:nvSpPr>
        <p:spPr>
          <a:xfrm>
            <a:off x="3520440" y="3182112"/>
            <a:ext cx="960120" cy="384048"/>
          </a:xfrm>
          <a:prstGeom prst="rect">
            <a:avLst/>
          </a:prstGeom>
          <a:noFill/>
          <a:ln/>
        </p:spPr>
        <p:txBody>
          <a:bodyPr wrap="square" lIns="0" tIns="0" rIns="0" bIns="0" rtlCol="0" anchor="ctr"/>
          <a:lstStyle/>
          <a:p>
            <a:pPr algn="ctr" indent="0" marL="0">
              <a:buNone/>
            </a:pPr>
            <a:r>
              <a:rPr lang="en-US" sz="1200" b="1" dirty="0">
                <a:solidFill>
                  <a:schemeClr val="accent1"/>
                </a:solidFill>
              </a:rPr>
              <a:t>Patient</a:t>
            </a:r>
            <a:endParaRPr lang="en-US" sz="1200" dirty="0"/>
          </a:p>
        </p:txBody>
      </p:sp>
      <p:sp>
        <p:nvSpPr>
          <p:cNvPr id="18" name="Account 3 use"/>
          <p:cNvSpPr txBox="1"/>
          <p:nvPr/>
        </p:nvSpPr>
        <p:spPr>
          <a:xfrm>
            <a:off x="4663440" y="3108960"/>
            <a:ext cx="2743200" cy="548640"/>
          </a:xfrm>
          <a:prstGeom prst="rect">
            <a:avLst/>
          </a:prstGeom>
          <a:noFill/>
          <a:ln/>
        </p:spPr>
        <p:txBody>
          <a:bodyPr wrap="square" lIns="0" tIns="0" rIns="0" bIns="0" rtlCol="0" anchor="ctr"/>
          <a:lstStyle/>
          <a:p>
            <a:pPr indent="0" marL="0">
              <a:buNone/>
            </a:pPr>
            <a:r>
              <a:rPr lang="en-US" sz="1200" dirty="0">
                <a:solidFill>
                  <a:schemeClr val="tx1"/>
                </a:solidFill>
              </a:rPr>
              <a:t>New patient; booking request waiting</a:t>
            </a:r>
            <a:endParaRPr lang="en-US" sz="1200" dirty="0"/>
          </a:p>
        </p:txBody>
      </p:sp>
      <p:sp>
        <p:nvSpPr>
          <p:cNvPr id="19" name="Account 4 row"/>
          <p:cNvSpPr/>
          <p:nvPr/>
        </p:nvSpPr>
        <p:spPr>
          <a:xfrm>
            <a:off x="548640" y="3822192"/>
            <a:ext cx="6949440" cy="676656"/>
          </a:xfrm>
          <a:prstGeom prst="rect">
            <a:avLst/>
          </a:prstGeom>
          <a:solidFill>
            <a:schemeClr val="bg1"/>
          </a:solidFill>
          <a:ln w="12700">
            <a:solidFill>
              <a:schemeClr val="bg2"/>
            </a:solidFill>
            <a:prstDash val="solid"/>
          </a:ln>
        </p:spPr>
      </p:sp>
      <p:sp>
        <p:nvSpPr>
          <p:cNvPr id="20" name="Account 4 name"/>
          <p:cNvSpPr txBox="1"/>
          <p:nvPr/>
        </p:nvSpPr>
        <p:spPr>
          <a:xfrm>
            <a:off x="731520" y="3895344"/>
            <a:ext cx="2743200" cy="548640"/>
          </a:xfrm>
          <a:prstGeom prst="rect">
            <a:avLst/>
          </a:prstGeom>
          <a:noFill/>
          <a:ln/>
        </p:spPr>
        <p:txBody>
          <a:bodyPr wrap="square" lIns="0" tIns="0" rIns="0" bIns="0" rtlCol="0" anchor="ctr"/>
          <a:lstStyle/>
          <a:p>
            <a:pPr indent="0" marL="0">
              <a:buNone/>
            </a:pPr>
            <a:r>
              <a:rPr lang="en-US" sz="1500" b="1" dirty="0">
                <a:solidFill>
                  <a:schemeClr val="tx1"/>
                </a:solidFill>
              </a:rPr>
              <a:t>Dr. Padmanaban</a:t>
            </a:r>
            <a:endParaRPr lang="en-US" sz="1500" dirty="0"/>
          </a:p>
          <a:p>
            <a:pPr indent="0" marL="0">
              <a:buNone/>
            </a:pPr>
            <a:r>
              <a:rPr lang="en-US" sz="1200" dirty="0">
                <a:solidFill>
                  <a:schemeClr val="accent5"/>
                </a:solidFill>
              </a:rPr>
              <a:t>padmanaban@example.com</a:t>
            </a:r>
            <a:endParaRPr lang="en-US" sz="1500" dirty="0"/>
          </a:p>
        </p:txBody>
      </p:sp>
      <p:sp>
        <p:nvSpPr>
          <p:cNvPr id="21" name="Chip Doctor"/>
          <p:cNvSpPr/>
          <p:nvPr/>
        </p:nvSpPr>
        <p:spPr>
          <a:xfrm>
            <a:off x="3520440" y="3968496"/>
            <a:ext cx="960120" cy="384048"/>
          </a:xfrm>
          <a:prstGeom prst="roundRect">
            <a:avLst>
              <a:gd name="adj" fmla="val 50000"/>
            </a:avLst>
          </a:prstGeom>
          <a:solidFill>
            <a:schemeClr val="accent1"/>
          </a:solidFill>
          <a:ln w="12700">
            <a:solidFill>
              <a:schemeClr val="accent1"/>
            </a:solidFill>
            <a:prstDash val="solid"/>
          </a:ln>
        </p:spPr>
      </p:sp>
      <p:sp>
        <p:nvSpPr>
          <p:cNvPr id="22" name="Chip Doctor label"/>
          <p:cNvSpPr txBox="1"/>
          <p:nvPr/>
        </p:nvSpPr>
        <p:spPr>
          <a:xfrm>
            <a:off x="3520440" y="3968496"/>
            <a:ext cx="960120" cy="384048"/>
          </a:xfrm>
          <a:prstGeom prst="rect">
            <a:avLst/>
          </a:prstGeom>
          <a:noFill/>
          <a:ln/>
        </p:spPr>
        <p:txBody>
          <a:bodyPr wrap="square" lIns="0" tIns="0" rIns="0" bIns="0" rtlCol="0" anchor="ctr"/>
          <a:lstStyle/>
          <a:p>
            <a:pPr algn="ctr" indent="0" marL="0">
              <a:buNone/>
            </a:pPr>
            <a:r>
              <a:rPr lang="en-US" sz="1200" b="1" dirty="0">
                <a:solidFill>
                  <a:schemeClr val="bg1"/>
                </a:solidFill>
              </a:rPr>
              <a:t>Doctor</a:t>
            </a:r>
            <a:endParaRPr lang="en-US" sz="1200" dirty="0"/>
          </a:p>
        </p:txBody>
      </p:sp>
      <p:sp>
        <p:nvSpPr>
          <p:cNvPr id="23" name="Account 4 use"/>
          <p:cNvSpPr txBox="1"/>
          <p:nvPr/>
        </p:nvSpPr>
        <p:spPr>
          <a:xfrm>
            <a:off x="4663440" y="3895344"/>
            <a:ext cx="2743200" cy="548640"/>
          </a:xfrm>
          <a:prstGeom prst="rect">
            <a:avLst/>
          </a:prstGeom>
          <a:noFill/>
          <a:ln/>
        </p:spPr>
        <p:txBody>
          <a:bodyPr wrap="square" lIns="0" tIns="0" rIns="0" bIns="0" rtlCol="0" anchor="ctr"/>
          <a:lstStyle/>
          <a:p>
            <a:pPr indent="0" marL="0">
              <a:buNone/>
            </a:pPr>
            <a:r>
              <a:rPr lang="en-US" sz="1200" dirty="0">
                <a:solidFill>
                  <a:schemeClr val="tx1"/>
                </a:solidFill>
              </a:rPr>
              <a:t>Integrative Expert Practitioner; today's queue, requests, alerts</a:t>
            </a:r>
            <a:endParaRPr lang="en-US" sz="1200" dirty="0"/>
          </a:p>
        </p:txBody>
      </p:sp>
      <p:sp>
        <p:nvSpPr>
          <p:cNvPr id="24" name="Account 5 row"/>
          <p:cNvSpPr/>
          <p:nvPr/>
        </p:nvSpPr>
        <p:spPr>
          <a:xfrm>
            <a:off x="548640" y="4608576"/>
            <a:ext cx="6949440" cy="676656"/>
          </a:xfrm>
          <a:prstGeom prst="rect">
            <a:avLst/>
          </a:prstGeom>
          <a:solidFill>
            <a:schemeClr val="bg2"/>
          </a:solidFill>
          <a:ln w="12700">
            <a:solidFill>
              <a:schemeClr val="bg2"/>
            </a:solidFill>
            <a:prstDash val="solid"/>
          </a:ln>
        </p:spPr>
      </p:sp>
      <p:sp>
        <p:nvSpPr>
          <p:cNvPr id="25" name="Account 5 name"/>
          <p:cNvSpPr txBox="1"/>
          <p:nvPr/>
        </p:nvSpPr>
        <p:spPr>
          <a:xfrm>
            <a:off x="731520" y="4681728"/>
            <a:ext cx="2743200" cy="548640"/>
          </a:xfrm>
          <a:prstGeom prst="rect">
            <a:avLst/>
          </a:prstGeom>
          <a:noFill/>
          <a:ln/>
        </p:spPr>
        <p:txBody>
          <a:bodyPr wrap="square" lIns="0" tIns="0" rIns="0" bIns="0" rtlCol="0" anchor="ctr"/>
          <a:lstStyle/>
          <a:p>
            <a:pPr indent="0" marL="0">
              <a:buNone/>
            </a:pPr>
            <a:r>
              <a:rPr lang="en-US" sz="1500" b="1" dirty="0">
                <a:solidFill>
                  <a:schemeClr val="tx1"/>
                </a:solidFill>
              </a:rPr>
              <a:t>Clinic Admin</a:t>
            </a:r>
            <a:endParaRPr lang="en-US" sz="1500" dirty="0"/>
          </a:p>
          <a:p>
            <a:pPr indent="0" marL="0">
              <a:buNone/>
            </a:pPr>
            <a:r>
              <a:rPr lang="en-US" sz="1200" dirty="0">
                <a:solidFill>
                  <a:schemeClr val="accent5"/>
                </a:solidFill>
              </a:rPr>
              <a:t>admin@example.com</a:t>
            </a:r>
            <a:endParaRPr lang="en-US" sz="1500" dirty="0"/>
          </a:p>
        </p:txBody>
      </p:sp>
      <p:sp>
        <p:nvSpPr>
          <p:cNvPr id="26" name="Chip Admin"/>
          <p:cNvSpPr/>
          <p:nvPr/>
        </p:nvSpPr>
        <p:spPr>
          <a:xfrm>
            <a:off x="3520440" y="4754880"/>
            <a:ext cx="960120" cy="384048"/>
          </a:xfrm>
          <a:prstGeom prst="roundRect">
            <a:avLst>
              <a:gd name="adj" fmla="val 50000"/>
            </a:avLst>
          </a:prstGeom>
          <a:solidFill>
            <a:schemeClr val="tx2"/>
          </a:solidFill>
          <a:ln w="12700">
            <a:solidFill>
              <a:schemeClr val="tx2"/>
            </a:solidFill>
            <a:prstDash val="solid"/>
          </a:ln>
        </p:spPr>
      </p:sp>
      <p:sp>
        <p:nvSpPr>
          <p:cNvPr id="27" name="Chip Admin label"/>
          <p:cNvSpPr txBox="1"/>
          <p:nvPr/>
        </p:nvSpPr>
        <p:spPr>
          <a:xfrm>
            <a:off x="3520440" y="4754880"/>
            <a:ext cx="960120" cy="384048"/>
          </a:xfrm>
          <a:prstGeom prst="rect">
            <a:avLst/>
          </a:prstGeom>
          <a:noFill/>
          <a:ln/>
        </p:spPr>
        <p:txBody>
          <a:bodyPr wrap="square" lIns="0" tIns="0" rIns="0" bIns="0" rtlCol="0" anchor="ctr"/>
          <a:lstStyle/>
          <a:p>
            <a:pPr algn="ctr" indent="0" marL="0">
              <a:buNone/>
            </a:pPr>
            <a:r>
              <a:rPr lang="en-US" sz="1200" b="1" dirty="0">
                <a:solidFill>
                  <a:schemeClr val="bg1"/>
                </a:solidFill>
              </a:rPr>
              <a:t>Admin</a:t>
            </a:r>
            <a:endParaRPr lang="en-US" sz="1200" dirty="0"/>
          </a:p>
        </p:txBody>
      </p:sp>
      <p:sp>
        <p:nvSpPr>
          <p:cNvPr id="28" name="Account 5 use"/>
          <p:cNvSpPr txBox="1"/>
          <p:nvPr/>
        </p:nvSpPr>
        <p:spPr>
          <a:xfrm>
            <a:off x="4663440" y="4681728"/>
            <a:ext cx="2743200" cy="548640"/>
          </a:xfrm>
          <a:prstGeom prst="rect">
            <a:avLst/>
          </a:prstGeom>
          <a:noFill/>
          <a:ln/>
        </p:spPr>
        <p:txBody>
          <a:bodyPr wrap="square" lIns="0" tIns="0" rIns="0" bIns="0" rtlCol="0" anchor="ctr"/>
          <a:lstStyle/>
          <a:p>
            <a:pPr indent="0" marL="0">
              <a:buNone/>
            </a:pPr>
            <a:r>
              <a:rPr lang="en-US" sz="1200" dirty="0">
                <a:solidFill>
                  <a:schemeClr val="tx1"/>
                </a:solidFill>
              </a:rPr>
              <a:t>Doctor verification, users, analytics</a:t>
            </a:r>
            <a:endParaRPr lang="en-US" sz="1200" dirty="0"/>
          </a:p>
        </p:txBody>
      </p:sp>
      <p:sp>
        <p:nvSpPr>
          <p:cNvPr id="29" name="Run panel"/>
          <p:cNvSpPr/>
          <p:nvPr/>
        </p:nvSpPr>
        <p:spPr>
          <a:xfrm>
            <a:off x="7955280" y="1463040"/>
            <a:ext cx="3685032" cy="3822192"/>
          </a:xfrm>
          <a:prstGeom prst="rect">
            <a:avLst/>
          </a:prstGeom>
          <a:solidFill>
            <a:schemeClr val="tx2"/>
          </a:solidFill>
          <a:ln w="12700">
            <a:solidFill>
              <a:schemeClr val="tx2"/>
            </a:solidFill>
            <a:prstDash val="solid"/>
          </a:ln>
        </p:spPr>
      </p:sp>
      <p:sp>
        <p:nvSpPr>
          <p:cNvPr id="30" name="Run heading"/>
          <p:cNvSpPr txBox="1"/>
          <p:nvPr/>
        </p:nvSpPr>
        <p:spPr>
          <a:xfrm>
            <a:off x="8229600" y="1645920"/>
            <a:ext cx="3200400" cy="411480"/>
          </a:xfrm>
          <a:prstGeom prst="rect">
            <a:avLst/>
          </a:prstGeom>
          <a:noFill/>
          <a:ln/>
        </p:spPr>
        <p:txBody>
          <a:bodyPr wrap="square" lIns="0" tIns="0" rIns="0" bIns="0" rtlCol="0" anchor="ctr"/>
          <a:lstStyle/>
          <a:p>
            <a:pPr indent="0" marL="0">
              <a:buNone/>
            </a:pPr>
            <a:r>
              <a:rPr lang="en-US" sz="2200" dirty="0">
                <a:solidFill>
                  <a:schemeClr val="bg1"/>
                </a:solidFill>
                <a:latin typeface="Cambria" pitchFamily="34" charset="0"/>
                <a:ea typeface="Cambria" pitchFamily="34" charset="-122"/>
                <a:cs typeface="Cambria" pitchFamily="34" charset="-120"/>
              </a:rPr>
              <a:t>Run it</a:t>
            </a:r>
            <a:endParaRPr lang="en-US" sz="2200" dirty="0"/>
          </a:p>
        </p:txBody>
      </p:sp>
      <p:sp>
        <p:nvSpPr>
          <p:cNvPr id="31" name="Run steps"/>
          <p:cNvSpPr txBox="1"/>
          <p:nvPr/>
        </p:nvSpPr>
        <p:spPr>
          <a:xfrm>
            <a:off x="8229600" y="2148840"/>
            <a:ext cx="3200400" cy="2926080"/>
          </a:xfrm>
          <a:prstGeom prst="rect">
            <a:avLst/>
          </a:prstGeom>
          <a:noFill/>
          <a:ln/>
        </p:spPr>
        <p:txBody>
          <a:bodyPr wrap="square" lIns="0" tIns="0" rIns="0" bIns="0" rtlCol="0" anchor="t"/>
          <a:lstStyle/>
          <a:p>
            <a:pPr indent="0" marL="0">
              <a:spcAft>
                <a:spcPts val="300"/>
              </a:spcAft>
              <a:buNone/>
            </a:pPr>
            <a:r>
              <a:rPr lang="en-US" sz="1200" dirty="0">
                <a:solidFill>
                  <a:schemeClr val="accent6"/>
                </a:solidFill>
              </a:rPr>
              <a:t>From the codebase folder:</a:t>
            </a:r>
            <a:endParaRPr lang="en-US" sz="1200" dirty="0"/>
          </a:p>
          <a:p>
            <a:pPr indent="0" marL="0">
              <a:spcAft>
                <a:spcPts val="300"/>
              </a:spcAft>
              <a:buNone/>
            </a:pPr>
            <a:r>
              <a:rPr lang="en-US" sz="1250" dirty="0">
                <a:solidFill>
                  <a:schemeClr val="bg1"/>
                </a:solidFill>
                <a:latin typeface="Courier New" pitchFamily="34" charset="0"/>
                <a:ea typeface="Courier New" pitchFamily="34" charset="-122"/>
                <a:cs typeface="Courier New" pitchFamily="34" charset="-120"/>
              </a:rPr>
              <a:t>npm.cmd run data:reset</a:t>
            </a:r>
            <a:endParaRPr lang="en-US" sz="1200" dirty="0"/>
          </a:p>
          <a:p>
            <a:pPr indent="0" marL="0">
              <a:spcAft>
                <a:spcPts val="300"/>
              </a:spcAft>
              <a:buNone/>
            </a:pPr>
            <a:r>
              <a:rPr lang="en-US" sz="1250" dirty="0">
                <a:solidFill>
                  <a:schemeClr val="bg1"/>
                </a:solidFill>
                <a:latin typeface="Courier New" pitchFamily="34" charset="0"/>
                <a:ea typeface="Courier New" pitchFamily="34" charset="-122"/>
                <a:cs typeface="Courier New" pitchFamily="34" charset="-120"/>
              </a:rPr>
              <a:t>npm.cmd run build</a:t>
            </a:r>
            <a:endParaRPr lang="en-US" sz="1200" dirty="0"/>
          </a:p>
          <a:p>
            <a:pPr indent="0" marL="0">
              <a:spcAft>
                <a:spcPts val="300"/>
              </a:spcAft>
              <a:buNone/>
            </a:pPr>
            <a:r>
              <a:rPr lang="en-US" sz="1250" dirty="0">
                <a:solidFill>
                  <a:schemeClr val="bg1"/>
                </a:solidFill>
                <a:latin typeface="Courier New" pitchFamily="34" charset="0"/>
                <a:ea typeface="Courier New" pitchFamily="34" charset="-122"/>
                <a:cs typeface="Courier New" pitchFamily="34" charset="-120"/>
              </a:rPr>
              <a:t>npm.cmd run start</a:t>
            </a:r>
            <a:endParaRPr lang="en-US" sz="1200" dirty="0"/>
          </a:p>
          <a:p>
            <a:pPr indent="0" marL="0">
              <a:spcAft>
                <a:spcPts val="300"/>
              </a:spcAft>
              <a:buNone/>
            </a:pPr>
            <a:r>
              <a:rPr lang="en-US" sz="800" dirty="0">
                <a:solidFill>
                  <a:srgbClr val="000000"/>
                </a:solidFill>
              </a:rPr>
              <a:t> </a:t>
            </a:r>
            <a:endParaRPr lang="en-US" sz="1200" dirty="0"/>
          </a:p>
          <a:p>
            <a:pPr indent="0" marL="0">
              <a:spcAft>
                <a:spcPts val="300"/>
              </a:spcAft>
              <a:buNone/>
            </a:pPr>
            <a:r>
              <a:rPr lang="en-US" sz="1200" dirty="0">
                <a:solidFill>
                  <a:schemeClr val="accent6"/>
                </a:solidFill>
              </a:rPr>
              <a:t>Open http://127.0.0.1:3000</a:t>
            </a:r>
            <a:endParaRPr lang="en-US" sz="1200" dirty="0"/>
          </a:p>
          <a:p>
            <a:pPr indent="0" marL="0">
              <a:spcAft>
                <a:spcPts val="300"/>
              </a:spcAft>
              <a:buNone/>
            </a:pPr>
            <a:r>
              <a:rPr lang="en-US" sz="800" dirty="0">
                <a:solidFill>
                  <a:srgbClr val="000000"/>
                </a:solidFill>
              </a:rPr>
              <a:t> </a:t>
            </a:r>
            <a:endParaRPr lang="en-US" sz="1200" dirty="0"/>
          </a:p>
          <a:p>
            <a:pPr indent="0" marL="0">
              <a:spcAft>
                <a:spcPts val="300"/>
              </a:spcAft>
              <a:buNone/>
            </a:pPr>
            <a:r>
              <a:rPr lang="en-US" sz="1200" dirty="0">
                <a:solidFill>
                  <a:schemeClr val="accent6"/>
                </a:solidFill>
              </a:rPr>
              <a:t>A reset moves dummy dates to today, so there is always a clinic queue.</a:t>
            </a:r>
            <a:endParaRPr lang="en-US" sz="1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ection number"/>
          <p:cNvSpPr txBox="1"/>
          <p:nvPr/>
        </p:nvSpPr>
        <p:spPr>
          <a:xfrm>
            <a:off x="640080" y="1371600"/>
            <a:ext cx="1828800" cy="731520"/>
          </a:xfrm>
          <a:prstGeom prst="rect">
            <a:avLst/>
          </a:prstGeom>
          <a:noFill/>
          <a:ln/>
        </p:spPr>
        <p:txBody>
          <a:bodyPr wrap="square" lIns="0" tIns="0" rIns="0" bIns="0" rtlCol="0" anchor="ctr"/>
          <a:lstStyle/>
          <a:p>
            <a:pPr indent="0" marL="0">
              <a:buNone/>
            </a:pPr>
            <a:r>
              <a:rPr lang="en-US" sz="4000" dirty="0">
                <a:solidFill>
                  <a:schemeClr val="accent6"/>
                </a:solidFill>
                <a:latin typeface="Cambria" pitchFamily="34" charset="0"/>
                <a:ea typeface="Cambria" pitchFamily="34" charset="-122"/>
                <a:cs typeface="Cambria" pitchFamily="34" charset="-120"/>
              </a:rPr>
              <a:t>01</a:t>
            </a:r>
            <a:endParaRPr lang="en-US" sz="4000" dirty="0"/>
          </a:p>
        </p:txBody>
      </p:sp>
      <p:sp>
        <p:nvSpPr>
          <p:cNvPr id="3" name="Text 0"/>
          <p:cNvSpPr/>
          <p:nvPr>
            <p:ph idx="100" type="title" hasCustomPrompt="1"/>
          </p:nvPr>
        </p:nvSpPr>
        <p:spPr>
          <a:xfrm>
            <a:off x="640080" y="2194560"/>
            <a:ext cx="5669280" cy="1097280"/>
          </a:xfrm>
          <a:prstGeom prst="rect">
            <a:avLst/>
          </a:prstGeom>
          <a:noFill/>
          <a:ln/>
        </p:spPr>
        <p:txBody>
          <a:bodyPr wrap="square" lIns="0" tIns="0" rIns="0" bIns="0" rtlCol="0" anchor="b"/>
          <a:lstStyle/>
          <a:p>
            <a:pPr algn="l" indent="0" marL="0">
              <a:buNone/>
            </a:pPr>
            <a:r>
              <a:rPr lang="en-US" sz="4400" dirty="0">
                <a:solidFill>
                  <a:schemeClr val="bg1"/>
                </a:solidFill>
              </a:rPr>
              <a:t>Patient portal</a:t>
            </a:r>
            <a:endParaRPr lang="en-US" sz="4400" dirty="0"/>
          </a:p>
        </p:txBody>
      </p:sp>
      <p:sp>
        <p:nvSpPr>
          <p:cNvPr id="4" name="Text 0"/>
          <p:cNvSpPr/>
          <p:nvPr>
            <p:ph idx="101" type="body" hasCustomPrompt="1"/>
          </p:nvPr>
        </p:nvSpPr>
        <p:spPr>
          <a:xfrm>
            <a:off x="640080" y="3474720"/>
            <a:ext cx="5486400" cy="1463040"/>
          </a:xfrm>
          <a:prstGeom prst="rect">
            <a:avLst/>
          </a:prstGeom>
          <a:noFill/>
          <a:ln/>
        </p:spPr>
        <p:txBody>
          <a:bodyPr wrap="square" lIns="0" tIns="0" rIns="0" bIns="0" rtlCol="0" anchor="t"/>
          <a:lstStyle/>
          <a:p>
            <a:pPr algn="l" indent="0" marL="0">
              <a:buNone/>
            </a:pPr>
            <a:r>
              <a:rPr lang="en-US" sz="1800" dirty="0">
                <a:solidFill>
                  <a:schemeClr val="accent6"/>
                </a:solidFill>
              </a:rPr>
              <a:t>Health profile and family, booking with pre-visit questions, check-in, results, e-prescriptions, messages, and privacy controls.</a:t>
            </a:r>
            <a:endParaRPr lang="en-US" sz="1800" dirty="0"/>
          </a:p>
        </p:txBody>
      </p:sp>
      <p:sp>
        <p:nvSpPr>
          <p:cNvPr id="5" name="Phone 1 shadow"/>
          <p:cNvSpPr/>
          <p:nvPr/>
        </p:nvSpPr>
        <p:spPr>
          <a:xfrm>
            <a:off x="7315200" y="822960"/>
            <a:ext cx="2103120" cy="4538876"/>
          </a:xfrm>
          <a:prstGeom prst="rect">
            <a:avLst/>
          </a:prstGeom>
          <a:solidFill>
            <a:schemeClr val="bg1"/>
          </a:solidFill>
          <a:ln w="12700">
            <a:solidFill>
              <a:schemeClr val="bg1"/>
            </a:solidFill>
            <a:prstDash val="solid"/>
          </a:ln>
          <a:effectLst>
            <a:outerShdw sx="100000" sy="100000" kx="0" ky="0" algn="bl" rotWithShape="0" blurRad="177800" dist="63500" dir="5400000">
              <a:srgbClr val="000000">
                <a:alpha val="30000"/>
              </a:srgbClr>
            </a:outerShdw>
          </a:effectLst>
        </p:spPr>
      </p:sp>
      <p:pic>
        <p:nvPicPr>
          <p:cNvPr id="6" name="Phone 1" descr="Patient screen on a phone">    </p:cNvPr>
          <p:cNvPicPr>
            <a:picLocks noChangeAspect="1"/>
          </p:cNvPicPr>
          <p:nvPr/>
        </p:nvPicPr>
        <p:blipFill>
          <a:blip r:embed="rId1"/>
          <a:stretch>
            <a:fillRect/>
          </a:stretch>
        </p:blipFill>
        <p:spPr>
          <a:xfrm>
            <a:off x="7315200" y="822960"/>
            <a:ext cx="2103120" cy="4538876"/>
          </a:xfrm>
          <a:prstGeom prst="rect">
            <a:avLst/>
          </a:prstGeom>
        </p:spPr>
      </p:pic>
      <p:sp>
        <p:nvSpPr>
          <p:cNvPr id="7" name="Phone 2 shadow"/>
          <p:cNvSpPr/>
          <p:nvPr/>
        </p:nvSpPr>
        <p:spPr>
          <a:xfrm>
            <a:off x="9646920" y="822960"/>
            <a:ext cx="2103120" cy="4538876"/>
          </a:xfrm>
          <a:prstGeom prst="rect">
            <a:avLst/>
          </a:prstGeom>
          <a:solidFill>
            <a:schemeClr val="bg1"/>
          </a:solidFill>
          <a:ln w="12700">
            <a:solidFill>
              <a:schemeClr val="bg1"/>
            </a:solidFill>
            <a:prstDash val="solid"/>
          </a:ln>
          <a:effectLst>
            <a:outerShdw sx="100000" sy="100000" kx="0" ky="0" algn="bl" rotWithShape="0" blurRad="177800" dist="63500" dir="5400000">
              <a:srgbClr val="000000">
                <a:alpha val="30000"/>
              </a:srgbClr>
            </a:outerShdw>
          </a:effectLst>
        </p:spPr>
      </p:sp>
      <p:pic>
        <p:nvPicPr>
          <p:cNvPr id="8" name="Phone 2" descr="Patient screen on a phone">    </p:cNvPr>
          <p:cNvPicPr>
            <a:picLocks noChangeAspect="1"/>
          </p:cNvPicPr>
          <p:nvPr/>
        </p:nvPicPr>
        <p:blipFill>
          <a:blip r:embed="rId2"/>
          <a:stretch>
            <a:fillRect/>
          </a:stretch>
        </p:blipFill>
        <p:spPr>
          <a:xfrm>
            <a:off x="9646920" y="822960"/>
            <a:ext cx="2103120" cy="4538876"/>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PATIENT · HOME</a:t>
            </a:r>
            <a:endParaRPr lang="en-US" sz="1100" dirty="0"/>
          </a:p>
        </p:txBody>
      </p:sp>
      <p:sp>
        <p:nvSpPr>
          <p:cNvPr id="3" name="Text 0"/>
          <p:cNvSpPr/>
          <p:nvPr>
            <p:ph idx="100"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dirty="0">
                <a:solidFill>
                  <a:schemeClr val="tx1"/>
                </a:solidFill>
              </a:rPr>
              <a:t>Everything a patient needs on one page</a:t>
            </a:r>
            <a:endParaRPr lang="en-US" sz="3000" dirty="0"/>
          </a:p>
        </p:txBody>
      </p:sp>
      <p:sp>
        <p:nvSpPr>
          <p:cNvPr id="4" name="Everything a patient needs on one page shadow"/>
          <p:cNvSpPr/>
          <p:nvPr/>
        </p:nvSpPr>
        <p:spPr>
          <a:xfrm>
            <a:off x="548640" y="1417320"/>
            <a:ext cx="7589520" cy="4400575"/>
          </a:xfrm>
          <a:prstGeom prst="rect">
            <a:avLst/>
          </a:prstGeom>
          <a:solidFill>
            <a:schemeClr val="bg1"/>
          </a:solidFill>
          <a:ln w="12700">
            <a:solidFill>
              <a:schemeClr val="bg1"/>
            </a:solidFill>
            <a:prstDash val="solid"/>
          </a:ln>
          <a:effectLst>
            <a:outerShdw sx="100000" sy="100000" kx="0" ky="0" algn="bl" rotWithShape="0" blurRad="127000" dist="38100" dir="5400000">
              <a:srgbClr val="173F3B">
                <a:alpha val="16000"/>
              </a:srgbClr>
            </a:outerShdw>
          </a:effectLst>
        </p:spPr>
      </p:sp>
      <p:pic>
        <p:nvPicPr>
          <p:cNvPr id="5" name="Everything a patient needs on one page" descr="Everything a patient needs on one page">    </p:cNvPr>
          <p:cNvPicPr>
            <a:picLocks noChangeAspect="1"/>
          </p:cNvPicPr>
          <p:nvPr/>
        </p:nvPicPr>
        <p:blipFill>
          <a:blip r:embed="rId1"/>
          <a:stretch>
            <a:fillRect/>
          </a:stretch>
        </p:blipFill>
        <p:spPr>
          <a:xfrm>
            <a:off x="548640" y="1417320"/>
            <a:ext cx="7589520" cy="4400575"/>
          </a:xfrm>
          <a:prstGeom prst="rect">
            <a:avLst/>
          </a:prstGeom>
        </p:spPr>
      </p:pic>
      <p:sp>
        <p:nvSpPr>
          <p:cNvPr id="6" name="Point 1 marker"/>
          <p:cNvSpPr/>
          <p:nvPr/>
        </p:nvSpPr>
        <p:spPr>
          <a:xfrm>
            <a:off x="8595360" y="1527048"/>
            <a:ext cx="310896" cy="310896"/>
          </a:xfrm>
          <a:prstGeom prst="ellipse">
            <a:avLst/>
          </a:prstGeom>
          <a:solidFill>
            <a:schemeClr val="accent1"/>
          </a:solidFill>
          <a:ln w="12700">
            <a:solidFill>
              <a:schemeClr val="accent1"/>
            </a:solidFill>
            <a:prstDash val="solid"/>
          </a:ln>
        </p:spPr>
      </p:sp>
      <p:sp>
        <p:nvSpPr>
          <p:cNvPr id="7" name="Point 1 number"/>
          <p:cNvSpPr txBox="1"/>
          <p:nvPr/>
        </p:nvSpPr>
        <p:spPr>
          <a:xfrm>
            <a:off x="8595360" y="1527048"/>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8" name="Point 1"/>
          <p:cNvSpPr txBox="1"/>
          <p:nvPr/>
        </p:nvSpPr>
        <p:spPr>
          <a:xfrm>
            <a:off x="9052560" y="1490472"/>
            <a:ext cx="2590495" cy="7086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Upcoming visits</a:t>
            </a:r>
            <a:endParaRPr lang="en-US" sz="1500" dirty="0"/>
          </a:p>
          <a:p>
            <a:pPr indent="0" marL="0">
              <a:spcAft>
                <a:spcPts val="200"/>
              </a:spcAft>
              <a:buNone/>
            </a:pPr>
            <a:r>
              <a:rPr lang="en-US" sz="1300" dirty="0">
                <a:solidFill>
                  <a:schemeClr val="accent5"/>
                </a:solidFill>
              </a:rPr>
              <a:t>Requests show as "requested" until the doctor accepts them.</a:t>
            </a:r>
            <a:endParaRPr lang="en-US" sz="1500" dirty="0"/>
          </a:p>
        </p:txBody>
      </p:sp>
      <p:sp>
        <p:nvSpPr>
          <p:cNvPr id="9" name="Point 2 marker"/>
          <p:cNvSpPr/>
          <p:nvPr/>
        </p:nvSpPr>
        <p:spPr>
          <a:xfrm>
            <a:off x="8595360" y="2473452"/>
            <a:ext cx="310896" cy="310896"/>
          </a:xfrm>
          <a:prstGeom prst="ellipse">
            <a:avLst/>
          </a:prstGeom>
          <a:solidFill>
            <a:schemeClr val="accent1"/>
          </a:solidFill>
          <a:ln w="12700">
            <a:solidFill>
              <a:schemeClr val="accent1"/>
            </a:solidFill>
            <a:prstDash val="solid"/>
          </a:ln>
        </p:spPr>
      </p:sp>
      <p:sp>
        <p:nvSpPr>
          <p:cNvPr id="10" name="Point 2 number"/>
          <p:cNvSpPr txBox="1"/>
          <p:nvPr/>
        </p:nvSpPr>
        <p:spPr>
          <a:xfrm>
            <a:off x="8595360" y="2473452"/>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1" name="Point 2"/>
          <p:cNvSpPr txBox="1"/>
          <p:nvPr/>
        </p:nvSpPr>
        <p:spPr>
          <a:xfrm>
            <a:off x="9052560" y="2436876"/>
            <a:ext cx="2590495" cy="916686"/>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Reminders and results</a:t>
            </a:r>
            <a:endParaRPr lang="en-US" sz="1500" dirty="0"/>
          </a:p>
          <a:p>
            <a:pPr indent="0" marL="0">
              <a:spcAft>
                <a:spcPts val="200"/>
              </a:spcAft>
              <a:buNone/>
            </a:pPr>
            <a:r>
              <a:rPr lang="en-US" sz="1300" dirty="0">
                <a:solidFill>
                  <a:schemeClr val="accent5"/>
                </a:solidFill>
              </a:rPr>
              <a:t>Refill reminders, and recent results with out-of-range values flagged.</a:t>
            </a:r>
            <a:endParaRPr lang="en-US" sz="1500" dirty="0"/>
          </a:p>
        </p:txBody>
      </p:sp>
      <p:sp>
        <p:nvSpPr>
          <p:cNvPr id="12" name="Point 3 marker"/>
          <p:cNvSpPr/>
          <p:nvPr/>
        </p:nvSpPr>
        <p:spPr>
          <a:xfrm>
            <a:off x="8595360" y="3627882"/>
            <a:ext cx="310896" cy="310896"/>
          </a:xfrm>
          <a:prstGeom prst="ellipse">
            <a:avLst/>
          </a:prstGeom>
          <a:solidFill>
            <a:schemeClr val="accent1"/>
          </a:solidFill>
          <a:ln w="12700">
            <a:solidFill>
              <a:schemeClr val="accent1"/>
            </a:solidFill>
            <a:prstDash val="solid"/>
          </a:ln>
        </p:spPr>
      </p:sp>
      <p:sp>
        <p:nvSpPr>
          <p:cNvPr id="13" name="Point 3 number"/>
          <p:cNvSpPr txBox="1"/>
          <p:nvPr/>
        </p:nvSpPr>
        <p:spPr>
          <a:xfrm>
            <a:off x="8595360" y="3627882"/>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4" name="Point 3"/>
          <p:cNvSpPr txBox="1"/>
          <p:nvPr/>
        </p:nvSpPr>
        <p:spPr>
          <a:xfrm>
            <a:off x="9052560" y="3591306"/>
            <a:ext cx="2590495" cy="7086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Family switcher</a:t>
            </a:r>
            <a:endParaRPr lang="en-US" sz="1500" dirty="0"/>
          </a:p>
          <a:p>
            <a:pPr indent="0" marL="0">
              <a:spcAft>
                <a:spcPts val="200"/>
              </a:spcAft>
              <a:buNone/>
            </a:pPr>
            <a:r>
              <a:rPr lang="en-US" sz="1300" dirty="0">
                <a:solidFill>
                  <a:schemeClr val="accent5"/>
                </a:solidFill>
              </a:rPr>
              <a:t>Ananya can view and manage her son Aarav's records.</a:t>
            </a:r>
            <a:endParaRPr lang="en-US" sz="1500" dirty="0"/>
          </a:p>
        </p:txBody>
      </p:sp>
      <p:sp>
        <p:nvSpPr>
          <p:cNvPr id="15" name="Point 4 marker"/>
          <p:cNvSpPr/>
          <p:nvPr/>
        </p:nvSpPr>
        <p:spPr>
          <a:xfrm>
            <a:off x="8595360" y="4574286"/>
            <a:ext cx="310896" cy="310896"/>
          </a:xfrm>
          <a:prstGeom prst="ellipse">
            <a:avLst/>
          </a:prstGeom>
          <a:solidFill>
            <a:schemeClr val="accent1"/>
          </a:solidFill>
          <a:ln w="12700">
            <a:solidFill>
              <a:schemeClr val="accent1"/>
            </a:solidFill>
            <a:prstDash val="solid"/>
          </a:ln>
        </p:spPr>
      </p:sp>
      <p:sp>
        <p:nvSpPr>
          <p:cNvPr id="16" name="Point 4 number"/>
          <p:cNvSpPr txBox="1"/>
          <p:nvPr/>
        </p:nvSpPr>
        <p:spPr>
          <a:xfrm>
            <a:off x="8595360" y="4574286"/>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7" name="Point 4"/>
          <p:cNvSpPr txBox="1"/>
          <p:nvPr/>
        </p:nvSpPr>
        <p:spPr>
          <a:xfrm>
            <a:off x="9052560" y="4537710"/>
            <a:ext cx="2590495" cy="7086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Not for emergencies</a:t>
            </a:r>
            <a:endParaRPr lang="en-US" sz="1500" dirty="0"/>
          </a:p>
          <a:p>
            <a:pPr indent="0" marL="0">
              <a:spcAft>
                <a:spcPts val="200"/>
              </a:spcAft>
              <a:buNone/>
            </a:pPr>
            <a:r>
              <a:rPr lang="en-US" sz="1300" dirty="0">
                <a:solidFill>
                  <a:schemeClr val="accent5"/>
                </a:solidFill>
              </a:rPr>
              <a:t>A permanent notice with a one-tap call to 112.</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PATIENT · HEALTH PROFILE</a:t>
            </a:r>
            <a:endParaRPr lang="en-US" sz="1100" dirty="0"/>
          </a:p>
        </p:txBody>
      </p:sp>
      <p:sp>
        <p:nvSpPr>
          <p:cNvPr id="3" name="Text 0"/>
          <p:cNvSpPr/>
          <p:nvPr>
            <p:ph idx="100"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dirty="0">
                <a:solidFill>
                  <a:schemeClr val="tx1"/>
                </a:solidFill>
              </a:rPr>
              <a:t>A health profile the patient keeps up to date</a:t>
            </a:r>
            <a:endParaRPr lang="en-US" sz="3000" dirty="0"/>
          </a:p>
        </p:txBody>
      </p:sp>
      <p:sp>
        <p:nvSpPr>
          <p:cNvPr id="4" name="Medical history: chronic, family, hospitalisation, surgery shadow"/>
          <p:cNvSpPr/>
          <p:nvPr/>
        </p:nvSpPr>
        <p:spPr>
          <a:xfrm>
            <a:off x="548640" y="2058718"/>
            <a:ext cx="5394960" cy="2778225"/>
          </a:xfrm>
          <a:prstGeom prst="rect">
            <a:avLst/>
          </a:prstGeom>
          <a:solidFill>
            <a:schemeClr val="bg1"/>
          </a:solidFill>
          <a:ln w="12700">
            <a:solidFill>
              <a:schemeClr val="bg1"/>
            </a:solidFill>
            <a:prstDash val="solid"/>
          </a:ln>
          <a:effectLst>
            <a:outerShdw sx="100000" sy="100000" kx="0" ky="0" algn="bl" rotWithShape="0" blurRad="127000" dist="38100" dir="5400000">
              <a:srgbClr val="173F3B">
                <a:alpha val="16000"/>
              </a:srgbClr>
            </a:outerShdw>
          </a:effectLst>
        </p:spPr>
      </p:sp>
      <p:pic>
        <p:nvPicPr>
          <p:cNvPr id="5" name="Medical history: chronic, family, hospitalisation, surgery" descr="Medical history: chronic, family, hospitalisation, surgery">    </p:cNvPr>
          <p:cNvPicPr>
            <a:picLocks noChangeAspect="1"/>
          </p:cNvPicPr>
          <p:nvPr/>
        </p:nvPicPr>
        <p:blipFill>
          <a:blip r:embed="rId1"/>
          <a:stretch>
            <a:fillRect/>
          </a:stretch>
        </p:blipFill>
        <p:spPr>
          <a:xfrm>
            <a:off x="548640" y="2058718"/>
            <a:ext cx="5394960" cy="2778225"/>
          </a:xfrm>
          <a:prstGeom prst="rect">
            <a:avLst/>
          </a:prstGeom>
        </p:spPr>
      </p:pic>
      <p:sp>
        <p:nvSpPr>
          <p:cNvPr id="6" name="Medications with a 7-day adherence tracker shadow"/>
          <p:cNvSpPr/>
          <p:nvPr/>
        </p:nvSpPr>
        <p:spPr>
          <a:xfrm>
            <a:off x="6245352" y="2058718"/>
            <a:ext cx="5394960" cy="3152044"/>
          </a:xfrm>
          <a:prstGeom prst="rect">
            <a:avLst/>
          </a:prstGeom>
          <a:solidFill>
            <a:schemeClr val="bg1"/>
          </a:solidFill>
          <a:ln w="12700">
            <a:solidFill>
              <a:schemeClr val="bg1"/>
            </a:solidFill>
            <a:prstDash val="solid"/>
          </a:ln>
          <a:effectLst>
            <a:outerShdw sx="100000" sy="100000" kx="0" ky="0" algn="bl" rotWithShape="0" blurRad="127000" dist="38100" dir="5400000">
              <a:srgbClr val="173F3B">
                <a:alpha val="16000"/>
              </a:srgbClr>
            </a:outerShdw>
          </a:effectLst>
        </p:spPr>
      </p:sp>
      <p:pic>
        <p:nvPicPr>
          <p:cNvPr id="7" name="Medications with a 7-day adherence tracker" descr="Medications with a 7-day adherence tracker">    </p:cNvPr>
          <p:cNvPicPr>
            <a:picLocks noChangeAspect="1"/>
          </p:cNvPicPr>
          <p:nvPr/>
        </p:nvPicPr>
        <p:blipFill>
          <a:blip r:embed="rId2"/>
          <a:stretch>
            <a:fillRect/>
          </a:stretch>
        </p:blipFill>
        <p:spPr>
          <a:xfrm>
            <a:off x="6245352" y="2058718"/>
            <a:ext cx="5394960" cy="3152044"/>
          </a:xfrm>
          <a:prstGeom prst="rect">
            <a:avLst/>
          </a:prstGeom>
        </p:spPr>
      </p:pic>
      <p:sp>
        <p:nvSpPr>
          <p:cNvPr id="8" name="Caption"/>
          <p:cNvSpPr txBox="1"/>
          <p:nvPr/>
        </p:nvSpPr>
        <p:spPr>
          <a:xfrm>
            <a:off x="548640" y="4946671"/>
            <a:ext cx="5394960" cy="274320"/>
          </a:xfrm>
          <a:prstGeom prst="rect">
            <a:avLst/>
          </a:prstGeom>
          <a:noFill/>
          <a:ln/>
        </p:spPr>
        <p:txBody>
          <a:bodyPr wrap="square" lIns="0" tIns="0" rIns="0" bIns="0" rtlCol="0" anchor="ctr"/>
          <a:lstStyle/>
          <a:p>
            <a:pPr algn="ctr" indent="0" marL="0">
              <a:buNone/>
            </a:pPr>
            <a:r>
              <a:rPr lang="en-US" sz="1100" i="1" dirty="0">
                <a:solidFill>
                  <a:schemeClr val="accent5"/>
                </a:solidFill>
              </a:rPr>
              <a:t>Medical history: chronic, family, hospitalisation, surgery</a:t>
            </a:r>
            <a:endParaRPr lang="en-US" sz="1100" dirty="0"/>
          </a:p>
        </p:txBody>
      </p:sp>
      <p:sp>
        <p:nvSpPr>
          <p:cNvPr id="9" name="Caption"/>
          <p:cNvSpPr txBox="1"/>
          <p:nvPr/>
        </p:nvSpPr>
        <p:spPr>
          <a:xfrm>
            <a:off x="6245352" y="5320490"/>
            <a:ext cx="5394960" cy="274320"/>
          </a:xfrm>
          <a:prstGeom prst="rect">
            <a:avLst/>
          </a:prstGeom>
          <a:noFill/>
          <a:ln/>
        </p:spPr>
        <p:txBody>
          <a:bodyPr wrap="square" lIns="0" tIns="0" rIns="0" bIns="0" rtlCol="0" anchor="ctr"/>
          <a:lstStyle/>
          <a:p>
            <a:pPr algn="ctr" indent="0" marL="0">
              <a:buNone/>
            </a:pPr>
            <a:r>
              <a:rPr lang="en-US" sz="1100" i="1" dirty="0">
                <a:solidFill>
                  <a:schemeClr val="accent5"/>
                </a:solidFill>
              </a:rPr>
              <a:t>Medications with a 7-day adherence tracker</a:t>
            </a:r>
            <a:endParaRPr lang="en-US" sz="11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PATIENT · BOOKING</a:t>
            </a:r>
            <a:endParaRPr lang="en-US" sz="1100" dirty="0"/>
          </a:p>
        </p:txBody>
      </p:sp>
      <p:sp>
        <p:nvSpPr>
          <p:cNvPr id="3" name="Text 0"/>
          <p:cNvSpPr/>
          <p:nvPr>
            <p:ph idx="100"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dirty="0">
                <a:solidFill>
                  <a:schemeClr val="tx1"/>
                </a:solidFill>
              </a:rPr>
              <a:t>Find a doctor and book a real free slot</a:t>
            </a:r>
            <a:endParaRPr lang="en-US" sz="3000" dirty="0"/>
          </a:p>
        </p:txBody>
      </p:sp>
      <p:sp>
        <p:nvSpPr>
          <p:cNvPr id="4" name="Booking page shadow"/>
          <p:cNvSpPr/>
          <p:nvPr/>
        </p:nvSpPr>
        <p:spPr>
          <a:xfrm>
            <a:off x="548640" y="1417320"/>
            <a:ext cx="7223760" cy="4520856"/>
          </a:xfrm>
          <a:prstGeom prst="rect">
            <a:avLst/>
          </a:prstGeom>
          <a:solidFill>
            <a:schemeClr val="bg1"/>
          </a:solidFill>
          <a:ln w="12700">
            <a:solidFill>
              <a:schemeClr val="bg1"/>
            </a:solidFill>
            <a:prstDash val="solid"/>
          </a:ln>
          <a:effectLst>
            <a:outerShdw sx="100000" sy="100000" kx="0" ky="0" algn="bl" rotWithShape="0" blurRad="127000" dist="38100" dir="5400000">
              <a:srgbClr val="173F3B">
                <a:alpha val="16000"/>
              </a:srgbClr>
            </a:outerShdw>
          </a:effectLst>
        </p:spPr>
      </p:sp>
      <p:pic>
        <p:nvPicPr>
          <p:cNvPr id="5" name="Booking page" descr="Booking page">    </p:cNvPr>
          <p:cNvPicPr>
            <a:picLocks noChangeAspect="1"/>
          </p:cNvPicPr>
          <p:nvPr/>
        </p:nvPicPr>
        <p:blipFill>
          <a:blip r:embed="rId1"/>
          <a:stretch>
            <a:fillRect/>
          </a:stretch>
        </p:blipFill>
        <p:spPr>
          <a:xfrm>
            <a:off x="548640" y="1417320"/>
            <a:ext cx="7223760" cy="4520856"/>
          </a:xfrm>
          <a:prstGeom prst="rect">
            <a:avLst/>
          </a:prstGeom>
        </p:spPr>
      </p:pic>
      <p:sp>
        <p:nvSpPr>
          <p:cNvPr id="6" name="Point 1 marker"/>
          <p:cNvSpPr/>
          <p:nvPr/>
        </p:nvSpPr>
        <p:spPr>
          <a:xfrm>
            <a:off x="8229600" y="1527048"/>
            <a:ext cx="310896" cy="310896"/>
          </a:xfrm>
          <a:prstGeom prst="ellipse">
            <a:avLst/>
          </a:prstGeom>
          <a:solidFill>
            <a:schemeClr val="accent1"/>
          </a:solidFill>
          <a:ln w="12700">
            <a:solidFill>
              <a:schemeClr val="accent1"/>
            </a:solidFill>
            <a:prstDash val="solid"/>
          </a:ln>
        </p:spPr>
      </p:sp>
      <p:sp>
        <p:nvSpPr>
          <p:cNvPr id="7" name="Point 1 number"/>
          <p:cNvSpPr txBox="1"/>
          <p:nvPr/>
        </p:nvSpPr>
        <p:spPr>
          <a:xfrm>
            <a:off x="8229600" y="1527048"/>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8" name="Point 1"/>
          <p:cNvSpPr txBox="1"/>
          <p:nvPr/>
        </p:nvSpPr>
        <p:spPr>
          <a:xfrm>
            <a:off x="8686800" y="1490472"/>
            <a:ext cx="2956255" cy="7086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Search and filter</a:t>
            </a:r>
            <a:endParaRPr lang="en-US" sz="1500" dirty="0"/>
          </a:p>
          <a:p>
            <a:pPr indent="0" marL="0">
              <a:spcAft>
                <a:spcPts val="200"/>
              </a:spcAft>
              <a:buNone/>
            </a:pPr>
            <a:r>
              <a:rPr lang="en-US" sz="1300" dirty="0">
                <a:solidFill>
                  <a:schemeClr val="accent5"/>
                </a:solidFill>
              </a:rPr>
              <a:t>By specialty, language, fee, availability and rating.</a:t>
            </a:r>
            <a:endParaRPr lang="en-US" sz="1500" dirty="0"/>
          </a:p>
        </p:txBody>
      </p:sp>
      <p:sp>
        <p:nvSpPr>
          <p:cNvPr id="9" name="Point 2 marker"/>
          <p:cNvSpPr/>
          <p:nvPr/>
        </p:nvSpPr>
        <p:spPr>
          <a:xfrm>
            <a:off x="8229600" y="2473452"/>
            <a:ext cx="310896" cy="310896"/>
          </a:xfrm>
          <a:prstGeom prst="ellipse">
            <a:avLst/>
          </a:prstGeom>
          <a:solidFill>
            <a:schemeClr val="accent1"/>
          </a:solidFill>
          <a:ln w="12700">
            <a:solidFill>
              <a:schemeClr val="accent1"/>
            </a:solidFill>
            <a:prstDash val="solid"/>
          </a:ln>
        </p:spPr>
      </p:sp>
      <p:sp>
        <p:nvSpPr>
          <p:cNvPr id="10" name="Point 2 number"/>
          <p:cNvSpPr txBox="1"/>
          <p:nvPr/>
        </p:nvSpPr>
        <p:spPr>
          <a:xfrm>
            <a:off x="8229600" y="2473452"/>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1" name="Point 2"/>
          <p:cNvSpPr txBox="1"/>
          <p:nvPr/>
        </p:nvSpPr>
        <p:spPr>
          <a:xfrm>
            <a:off x="8686800" y="2436876"/>
            <a:ext cx="2956255" cy="916686"/>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Pick a slot</a:t>
            </a:r>
            <a:endParaRPr lang="en-US" sz="1500" dirty="0"/>
          </a:p>
          <a:p>
            <a:pPr indent="0" marL="0">
              <a:spcAft>
                <a:spcPts val="200"/>
              </a:spcAft>
              <a:buNone/>
            </a:pPr>
            <a:r>
              <a:rPr lang="en-US" sz="1300" dirty="0">
                <a:solidFill>
                  <a:schemeClr val="accent5"/>
                </a:solidFill>
              </a:rPr>
              <a:t>Built from working hours, breaks, buffers, leave and existing bookings.</a:t>
            </a:r>
            <a:endParaRPr lang="en-US" sz="1500" dirty="0"/>
          </a:p>
        </p:txBody>
      </p:sp>
      <p:sp>
        <p:nvSpPr>
          <p:cNvPr id="12" name="Point 3 marker"/>
          <p:cNvSpPr/>
          <p:nvPr/>
        </p:nvSpPr>
        <p:spPr>
          <a:xfrm>
            <a:off x="8229600" y="3627882"/>
            <a:ext cx="310896" cy="310896"/>
          </a:xfrm>
          <a:prstGeom prst="ellipse">
            <a:avLst/>
          </a:prstGeom>
          <a:solidFill>
            <a:schemeClr val="accent1"/>
          </a:solidFill>
          <a:ln w="12700">
            <a:solidFill>
              <a:schemeClr val="accent1"/>
            </a:solidFill>
            <a:prstDash val="solid"/>
          </a:ln>
        </p:spPr>
      </p:sp>
      <p:sp>
        <p:nvSpPr>
          <p:cNvPr id="13" name="Point 3 number"/>
          <p:cNvSpPr txBox="1"/>
          <p:nvPr/>
        </p:nvSpPr>
        <p:spPr>
          <a:xfrm>
            <a:off x="8229600" y="3627882"/>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4" name="Point 3"/>
          <p:cNvSpPr txBox="1"/>
          <p:nvPr/>
        </p:nvSpPr>
        <p:spPr>
          <a:xfrm>
            <a:off x="8686800" y="3591306"/>
            <a:ext cx="2956255" cy="7086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Answer pre-visit questions</a:t>
            </a:r>
            <a:endParaRPr lang="en-US" sz="1500" dirty="0"/>
          </a:p>
          <a:p>
            <a:pPr indent="0" marL="0">
              <a:spcAft>
                <a:spcPts val="200"/>
              </a:spcAft>
              <a:buNone/>
            </a:pPr>
            <a:r>
              <a:rPr lang="en-US" sz="1300" dirty="0">
                <a:solidFill>
                  <a:schemeClr val="accent5"/>
                </a:solidFill>
              </a:rPr>
              <a:t>Main concern, symptoms, duration, fever, current medicines.</a:t>
            </a:r>
            <a:endParaRPr lang="en-US" sz="1500" dirty="0"/>
          </a:p>
        </p:txBody>
      </p:sp>
      <p:sp>
        <p:nvSpPr>
          <p:cNvPr id="15" name="Point 4 marker"/>
          <p:cNvSpPr/>
          <p:nvPr/>
        </p:nvSpPr>
        <p:spPr>
          <a:xfrm>
            <a:off x="8229600" y="4574286"/>
            <a:ext cx="310896" cy="310896"/>
          </a:xfrm>
          <a:prstGeom prst="ellipse">
            <a:avLst/>
          </a:prstGeom>
          <a:solidFill>
            <a:schemeClr val="accent1"/>
          </a:solidFill>
          <a:ln w="12700">
            <a:solidFill>
              <a:schemeClr val="accent1"/>
            </a:solidFill>
            <a:prstDash val="solid"/>
          </a:ln>
        </p:spPr>
      </p:sp>
      <p:sp>
        <p:nvSpPr>
          <p:cNvPr id="16" name="Point 4 number"/>
          <p:cNvSpPr txBox="1"/>
          <p:nvPr/>
        </p:nvSpPr>
        <p:spPr>
          <a:xfrm>
            <a:off x="8229600" y="4574286"/>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7" name="Point 4"/>
          <p:cNvSpPr txBox="1"/>
          <p:nvPr/>
        </p:nvSpPr>
        <p:spPr>
          <a:xfrm>
            <a:off x="8686800" y="4537710"/>
            <a:ext cx="2956255" cy="7086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Request</a:t>
            </a:r>
            <a:endParaRPr lang="en-US" sz="1500" dirty="0"/>
          </a:p>
          <a:p>
            <a:pPr indent="0" marL="0">
              <a:spcAft>
                <a:spcPts val="200"/>
              </a:spcAft>
              <a:buNone/>
            </a:pPr>
            <a:r>
              <a:rPr lang="en-US" sz="1300" dirty="0">
                <a:solidFill>
                  <a:schemeClr val="accent5"/>
                </a:solidFill>
              </a:rPr>
              <a:t>The doctor accepts or rejects it, and the patient is notified.</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icker"/>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PATIENT · AFTER THE VISIT</a:t>
            </a:r>
            <a:endParaRPr lang="en-US" sz="1100" dirty="0"/>
          </a:p>
        </p:txBody>
      </p:sp>
      <p:sp>
        <p:nvSpPr>
          <p:cNvPr id="3" name="Text 0"/>
          <p:cNvSpPr/>
          <p:nvPr>
            <p:ph idx="100"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dirty="0">
                <a:solidFill>
                  <a:schemeClr val="tx1"/>
                </a:solidFill>
              </a:rPr>
              <a:t>Care summaries, results and e-prescriptions</a:t>
            </a:r>
            <a:endParaRPr lang="en-US" sz="3000" dirty="0"/>
          </a:p>
        </p:txBody>
      </p:sp>
      <p:sp>
        <p:nvSpPr>
          <p:cNvPr id="4" name="Visit history with care summaries and ICD-10 diagnoses shadow"/>
          <p:cNvSpPr/>
          <p:nvPr/>
        </p:nvSpPr>
        <p:spPr>
          <a:xfrm>
            <a:off x="548640" y="2220208"/>
            <a:ext cx="5394960" cy="2829064"/>
          </a:xfrm>
          <a:prstGeom prst="rect">
            <a:avLst/>
          </a:prstGeom>
          <a:solidFill>
            <a:schemeClr val="bg1"/>
          </a:solidFill>
          <a:ln w="12700">
            <a:solidFill>
              <a:schemeClr val="bg1"/>
            </a:solidFill>
            <a:prstDash val="solid"/>
          </a:ln>
          <a:effectLst>
            <a:outerShdw sx="100000" sy="100000" kx="0" ky="0" algn="bl" rotWithShape="0" blurRad="127000" dist="38100" dir="5400000">
              <a:srgbClr val="173F3B">
                <a:alpha val="16000"/>
              </a:srgbClr>
            </a:outerShdw>
          </a:effectLst>
        </p:spPr>
      </p:sp>
      <p:pic>
        <p:nvPicPr>
          <p:cNvPr id="5" name="Visit history with care summaries and ICD-10 diagnoses" descr="Visit history with care summaries and ICD-10 diagnoses">    </p:cNvPr>
          <p:cNvPicPr>
            <a:picLocks noChangeAspect="1"/>
          </p:cNvPicPr>
          <p:nvPr/>
        </p:nvPicPr>
        <p:blipFill>
          <a:blip r:embed="rId1"/>
          <a:stretch>
            <a:fillRect/>
          </a:stretch>
        </p:blipFill>
        <p:spPr>
          <a:xfrm>
            <a:off x="548640" y="2220208"/>
            <a:ext cx="5394960" cy="2829064"/>
          </a:xfrm>
          <a:prstGeom prst="rect">
            <a:avLst/>
          </a:prstGeom>
        </p:spPr>
      </p:pic>
      <p:sp>
        <p:nvSpPr>
          <p:cNvPr id="6" name="Signed e-prescription, ready to print or save as PDF shadow"/>
          <p:cNvSpPr/>
          <p:nvPr/>
        </p:nvSpPr>
        <p:spPr>
          <a:xfrm>
            <a:off x="6245352" y="2220208"/>
            <a:ext cx="5394960" cy="2727386"/>
          </a:xfrm>
          <a:prstGeom prst="rect">
            <a:avLst/>
          </a:prstGeom>
          <a:solidFill>
            <a:schemeClr val="bg1"/>
          </a:solidFill>
          <a:ln w="12700">
            <a:solidFill>
              <a:schemeClr val="bg1"/>
            </a:solidFill>
            <a:prstDash val="solid"/>
          </a:ln>
          <a:effectLst>
            <a:outerShdw sx="100000" sy="100000" kx="0" ky="0" algn="bl" rotWithShape="0" blurRad="127000" dist="38100" dir="5400000">
              <a:srgbClr val="173F3B">
                <a:alpha val="16000"/>
              </a:srgbClr>
            </a:outerShdw>
          </a:effectLst>
        </p:spPr>
      </p:sp>
      <p:pic>
        <p:nvPicPr>
          <p:cNvPr id="7" name="Signed e-prescription, ready to print or save as PDF" descr="Signed e-prescription, ready to print or save as PDF">    </p:cNvPr>
          <p:cNvPicPr>
            <a:picLocks noChangeAspect="1"/>
          </p:cNvPicPr>
          <p:nvPr/>
        </p:nvPicPr>
        <p:blipFill>
          <a:blip r:embed="rId2"/>
          <a:stretch>
            <a:fillRect/>
          </a:stretch>
        </p:blipFill>
        <p:spPr>
          <a:xfrm>
            <a:off x="6245352" y="2220208"/>
            <a:ext cx="5394960" cy="2727386"/>
          </a:xfrm>
          <a:prstGeom prst="rect">
            <a:avLst/>
          </a:prstGeom>
        </p:spPr>
      </p:pic>
      <p:sp>
        <p:nvSpPr>
          <p:cNvPr id="8" name="Caption"/>
          <p:cNvSpPr txBox="1"/>
          <p:nvPr/>
        </p:nvSpPr>
        <p:spPr>
          <a:xfrm>
            <a:off x="548640" y="5159000"/>
            <a:ext cx="5394960" cy="274320"/>
          </a:xfrm>
          <a:prstGeom prst="rect">
            <a:avLst/>
          </a:prstGeom>
          <a:noFill/>
          <a:ln/>
        </p:spPr>
        <p:txBody>
          <a:bodyPr wrap="square" lIns="0" tIns="0" rIns="0" bIns="0" rtlCol="0" anchor="ctr"/>
          <a:lstStyle/>
          <a:p>
            <a:pPr algn="ctr" indent="0" marL="0">
              <a:buNone/>
            </a:pPr>
            <a:r>
              <a:rPr lang="en-US" sz="1100" i="1" dirty="0">
                <a:solidFill>
                  <a:schemeClr val="accent5"/>
                </a:solidFill>
              </a:rPr>
              <a:t>Visit history with care summaries and ICD-10 diagnoses</a:t>
            </a:r>
            <a:endParaRPr lang="en-US" sz="1100" dirty="0"/>
          </a:p>
        </p:txBody>
      </p:sp>
      <p:sp>
        <p:nvSpPr>
          <p:cNvPr id="9" name="Caption"/>
          <p:cNvSpPr txBox="1"/>
          <p:nvPr/>
        </p:nvSpPr>
        <p:spPr>
          <a:xfrm>
            <a:off x="6245352" y="5057321"/>
            <a:ext cx="5394960" cy="274320"/>
          </a:xfrm>
          <a:prstGeom prst="rect">
            <a:avLst/>
          </a:prstGeom>
          <a:noFill/>
          <a:ln/>
        </p:spPr>
        <p:txBody>
          <a:bodyPr wrap="square" lIns="0" tIns="0" rIns="0" bIns="0" rtlCol="0" anchor="ctr"/>
          <a:lstStyle/>
          <a:p>
            <a:pPr algn="ctr" indent="0" marL="0">
              <a:buNone/>
            </a:pPr>
            <a:r>
              <a:rPr lang="en-US" sz="1100" i="1" dirty="0">
                <a:solidFill>
                  <a:schemeClr val="accent5"/>
                </a:solidFill>
              </a:rPr>
              <a:t>Signed e-prescription, ready to print or save as PDF</a:t>
            </a:r>
            <a:endParaRPr lang="en-US" sz="11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Kicker"/>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PATIENT · PRIVACY</a:t>
            </a:r>
            <a:endParaRPr lang="en-US" sz="1100" dirty="0"/>
          </a:p>
        </p:txBody>
      </p:sp>
      <p:sp>
        <p:nvSpPr>
          <p:cNvPr id="3" name="Text 0"/>
          <p:cNvSpPr/>
          <p:nvPr>
            <p:ph idx="100"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dirty="0">
                <a:solidFill>
                  <a:schemeClr val="tx1"/>
                </a:solidFill>
              </a:rPr>
              <a:t>The patient controls who sees the record</a:t>
            </a:r>
            <a:endParaRPr lang="en-US" sz="3000" dirty="0"/>
          </a:p>
        </p:txBody>
      </p:sp>
      <p:sp>
        <p:nvSpPr>
          <p:cNvPr id="4" name="The patient controls who sees the record shadow"/>
          <p:cNvSpPr/>
          <p:nvPr/>
        </p:nvSpPr>
        <p:spPr>
          <a:xfrm>
            <a:off x="548640" y="1417320"/>
            <a:ext cx="7223760" cy="4520856"/>
          </a:xfrm>
          <a:prstGeom prst="rect">
            <a:avLst/>
          </a:prstGeom>
          <a:solidFill>
            <a:schemeClr val="bg1"/>
          </a:solidFill>
          <a:ln w="12700">
            <a:solidFill>
              <a:schemeClr val="bg1"/>
            </a:solidFill>
            <a:prstDash val="solid"/>
          </a:ln>
          <a:effectLst>
            <a:outerShdw sx="100000" sy="100000" kx="0" ky="0" algn="bl" rotWithShape="0" blurRad="127000" dist="38100" dir="5400000">
              <a:srgbClr val="173F3B">
                <a:alpha val="16000"/>
              </a:srgbClr>
            </a:outerShdw>
          </a:effectLst>
        </p:spPr>
      </p:sp>
      <p:pic>
        <p:nvPicPr>
          <p:cNvPr id="5" name="The patient controls who sees the record" descr="The patient controls who sees the record">    </p:cNvPr>
          <p:cNvPicPr>
            <a:picLocks noChangeAspect="1"/>
          </p:cNvPicPr>
          <p:nvPr/>
        </p:nvPicPr>
        <p:blipFill>
          <a:blip r:embed="rId1"/>
          <a:stretch>
            <a:fillRect/>
          </a:stretch>
        </p:blipFill>
        <p:spPr>
          <a:xfrm>
            <a:off x="548640" y="1417320"/>
            <a:ext cx="7223760" cy="4520856"/>
          </a:xfrm>
          <a:prstGeom prst="rect">
            <a:avLst/>
          </a:prstGeom>
        </p:spPr>
      </p:pic>
      <p:sp>
        <p:nvSpPr>
          <p:cNvPr id="6" name="Point 1 marker"/>
          <p:cNvSpPr/>
          <p:nvPr/>
        </p:nvSpPr>
        <p:spPr>
          <a:xfrm>
            <a:off x="8229600" y="1527048"/>
            <a:ext cx="310896" cy="310896"/>
          </a:xfrm>
          <a:prstGeom prst="ellipse">
            <a:avLst/>
          </a:prstGeom>
          <a:solidFill>
            <a:schemeClr val="accent1"/>
          </a:solidFill>
          <a:ln w="12700">
            <a:solidFill>
              <a:schemeClr val="accent1"/>
            </a:solidFill>
            <a:prstDash val="solid"/>
          </a:ln>
        </p:spPr>
      </p:sp>
      <p:sp>
        <p:nvSpPr>
          <p:cNvPr id="7" name="Point 1 number"/>
          <p:cNvSpPr txBox="1"/>
          <p:nvPr/>
        </p:nvSpPr>
        <p:spPr>
          <a:xfrm>
            <a:off x="8229600" y="1527048"/>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8" name="Point 1"/>
          <p:cNvSpPr txBox="1"/>
          <p:nvPr/>
        </p:nvSpPr>
        <p:spPr>
          <a:xfrm>
            <a:off x="8686800" y="1490472"/>
            <a:ext cx="2956255" cy="7086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Consent</a:t>
            </a:r>
            <a:endParaRPr lang="en-US" sz="1500" dirty="0"/>
          </a:p>
          <a:p>
            <a:pPr indent="0" marL="0">
              <a:spcAft>
                <a:spcPts val="200"/>
              </a:spcAft>
              <a:buNone/>
            </a:pPr>
            <a:r>
              <a:rPr lang="en-US" sz="1300" dirty="0">
                <a:solidFill>
                  <a:schemeClr val="accent5"/>
                </a:solidFill>
              </a:rPr>
              <a:t>Terms, remote follow-up and data sharing, editable at any time.</a:t>
            </a:r>
            <a:endParaRPr lang="en-US" sz="1500" dirty="0"/>
          </a:p>
        </p:txBody>
      </p:sp>
      <p:sp>
        <p:nvSpPr>
          <p:cNvPr id="9" name="Point 2 marker"/>
          <p:cNvSpPr/>
          <p:nvPr/>
        </p:nvSpPr>
        <p:spPr>
          <a:xfrm>
            <a:off x="8229600" y="2473452"/>
            <a:ext cx="310896" cy="310896"/>
          </a:xfrm>
          <a:prstGeom prst="ellipse">
            <a:avLst/>
          </a:prstGeom>
          <a:solidFill>
            <a:schemeClr val="accent1"/>
          </a:solidFill>
          <a:ln w="12700">
            <a:solidFill>
              <a:schemeClr val="accent1"/>
            </a:solidFill>
            <a:prstDash val="solid"/>
          </a:ln>
        </p:spPr>
      </p:sp>
      <p:sp>
        <p:nvSpPr>
          <p:cNvPr id="10" name="Point 2 number"/>
          <p:cNvSpPr txBox="1"/>
          <p:nvPr/>
        </p:nvSpPr>
        <p:spPr>
          <a:xfrm>
            <a:off x="8229600" y="2473452"/>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1" name="Point 2"/>
          <p:cNvSpPr txBox="1"/>
          <p:nvPr/>
        </p:nvSpPr>
        <p:spPr>
          <a:xfrm>
            <a:off x="8686800" y="2436876"/>
            <a:ext cx="2956255" cy="7086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Block a doctor</a:t>
            </a:r>
            <a:endParaRPr lang="en-US" sz="1500" dirty="0"/>
          </a:p>
          <a:p>
            <a:pPr indent="0" marL="0">
              <a:spcAft>
                <a:spcPts val="200"/>
              </a:spcAft>
              <a:buNone/>
            </a:pPr>
            <a:r>
              <a:rPr lang="en-US" sz="1300" dirty="0">
                <a:solidFill>
                  <a:schemeClr val="accent5"/>
                </a:solidFill>
              </a:rPr>
              <a:t>A blocked doctor immediately loses access to the record.</a:t>
            </a:r>
            <a:endParaRPr lang="en-US" sz="1500" dirty="0"/>
          </a:p>
        </p:txBody>
      </p:sp>
      <p:sp>
        <p:nvSpPr>
          <p:cNvPr id="12" name="Point 3 marker"/>
          <p:cNvSpPr/>
          <p:nvPr/>
        </p:nvSpPr>
        <p:spPr>
          <a:xfrm>
            <a:off x="8229600" y="3419856"/>
            <a:ext cx="310896" cy="310896"/>
          </a:xfrm>
          <a:prstGeom prst="ellipse">
            <a:avLst/>
          </a:prstGeom>
          <a:solidFill>
            <a:schemeClr val="accent1"/>
          </a:solidFill>
          <a:ln w="12700">
            <a:solidFill>
              <a:schemeClr val="accent1"/>
            </a:solidFill>
            <a:prstDash val="solid"/>
          </a:ln>
        </p:spPr>
      </p:sp>
      <p:sp>
        <p:nvSpPr>
          <p:cNvPr id="13" name="Point 3 number"/>
          <p:cNvSpPr txBox="1"/>
          <p:nvPr/>
        </p:nvSpPr>
        <p:spPr>
          <a:xfrm>
            <a:off x="8229600" y="3419856"/>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4" name="Point 3"/>
          <p:cNvSpPr txBox="1"/>
          <p:nvPr/>
        </p:nvSpPr>
        <p:spPr>
          <a:xfrm>
            <a:off x="8686800" y="3383280"/>
            <a:ext cx="2956255" cy="7086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Access log</a:t>
            </a:r>
            <a:endParaRPr lang="en-US" sz="1500" dirty="0"/>
          </a:p>
          <a:p>
            <a:pPr indent="0" marL="0">
              <a:spcAft>
                <a:spcPts val="200"/>
              </a:spcAft>
              <a:buNone/>
            </a:pPr>
            <a:r>
              <a:rPr lang="en-US" sz="1300" dirty="0">
                <a:solidFill>
                  <a:schemeClr val="accent5"/>
                </a:solidFill>
              </a:rPr>
              <a:t>Who viewed or changed the record, and when.</a:t>
            </a:r>
            <a:endParaRPr lang="en-US" sz="1500" dirty="0"/>
          </a:p>
        </p:txBody>
      </p:sp>
      <p:sp>
        <p:nvSpPr>
          <p:cNvPr id="15" name="Point 4 marker"/>
          <p:cNvSpPr/>
          <p:nvPr/>
        </p:nvSpPr>
        <p:spPr>
          <a:xfrm>
            <a:off x="8229600" y="4366260"/>
            <a:ext cx="310896" cy="310896"/>
          </a:xfrm>
          <a:prstGeom prst="ellipse">
            <a:avLst/>
          </a:prstGeom>
          <a:solidFill>
            <a:schemeClr val="accent1"/>
          </a:solidFill>
          <a:ln w="12700">
            <a:solidFill>
              <a:schemeClr val="accent1"/>
            </a:solidFill>
            <a:prstDash val="solid"/>
          </a:ln>
        </p:spPr>
      </p:sp>
      <p:sp>
        <p:nvSpPr>
          <p:cNvPr id="16" name="Point 4 number"/>
          <p:cNvSpPr txBox="1"/>
          <p:nvPr/>
        </p:nvSpPr>
        <p:spPr>
          <a:xfrm>
            <a:off x="8229600" y="4366260"/>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7" name="Point 4"/>
          <p:cNvSpPr txBox="1"/>
          <p:nvPr/>
        </p:nvSpPr>
        <p:spPr>
          <a:xfrm>
            <a:off x="8686800" y="4329684"/>
            <a:ext cx="2956255" cy="7086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Export or delete</a:t>
            </a:r>
            <a:endParaRPr lang="en-US" sz="1500" dirty="0"/>
          </a:p>
          <a:p>
            <a:pPr indent="0" marL="0">
              <a:spcAft>
                <a:spcPts val="200"/>
              </a:spcAft>
              <a:buNone/>
            </a:pPr>
            <a:r>
              <a:rPr lang="en-US" sz="1300" dirty="0">
                <a:solidFill>
                  <a:schemeClr val="accent5"/>
                </a:solidFill>
              </a:rPr>
              <a:t>Download all data as JSON, or delete the account and its data.</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ection number"/>
          <p:cNvSpPr txBox="1"/>
          <p:nvPr/>
        </p:nvSpPr>
        <p:spPr>
          <a:xfrm>
            <a:off x="640080" y="1371600"/>
            <a:ext cx="1828800" cy="731520"/>
          </a:xfrm>
          <a:prstGeom prst="rect">
            <a:avLst/>
          </a:prstGeom>
          <a:noFill/>
          <a:ln/>
        </p:spPr>
        <p:txBody>
          <a:bodyPr wrap="square" lIns="0" tIns="0" rIns="0" bIns="0" rtlCol="0" anchor="ctr"/>
          <a:lstStyle/>
          <a:p>
            <a:pPr indent="0" marL="0">
              <a:buNone/>
            </a:pPr>
            <a:r>
              <a:rPr lang="en-US" sz="4000" dirty="0">
                <a:solidFill>
                  <a:schemeClr val="accent6"/>
                </a:solidFill>
                <a:latin typeface="Cambria" pitchFamily="34" charset="0"/>
                <a:ea typeface="Cambria" pitchFamily="34" charset="-122"/>
                <a:cs typeface="Cambria" pitchFamily="34" charset="-120"/>
              </a:rPr>
              <a:t>02</a:t>
            </a:r>
            <a:endParaRPr lang="en-US" sz="4000" dirty="0"/>
          </a:p>
        </p:txBody>
      </p:sp>
      <p:sp>
        <p:nvSpPr>
          <p:cNvPr id="3" name="Text 0"/>
          <p:cNvSpPr/>
          <p:nvPr>
            <p:ph idx="100" type="title" hasCustomPrompt="1"/>
          </p:nvPr>
        </p:nvSpPr>
        <p:spPr>
          <a:xfrm>
            <a:off x="640080" y="2194560"/>
            <a:ext cx="5669280" cy="1097280"/>
          </a:xfrm>
          <a:prstGeom prst="rect">
            <a:avLst/>
          </a:prstGeom>
          <a:noFill/>
          <a:ln/>
        </p:spPr>
        <p:txBody>
          <a:bodyPr wrap="square" lIns="0" tIns="0" rIns="0" bIns="0" rtlCol="0" anchor="b"/>
          <a:lstStyle/>
          <a:p>
            <a:pPr algn="l" indent="0" marL="0">
              <a:buNone/>
            </a:pPr>
            <a:r>
              <a:rPr lang="en-US" sz="4400" dirty="0">
                <a:solidFill>
                  <a:schemeClr val="bg1"/>
                </a:solidFill>
              </a:rPr>
              <a:t>Doctor portal</a:t>
            </a:r>
            <a:endParaRPr lang="en-US" sz="4400" dirty="0"/>
          </a:p>
        </p:txBody>
      </p:sp>
      <p:sp>
        <p:nvSpPr>
          <p:cNvPr id="4" name="Text 0"/>
          <p:cNvSpPr/>
          <p:nvPr>
            <p:ph idx="101" type="body" hasCustomPrompt="1"/>
          </p:nvPr>
        </p:nvSpPr>
        <p:spPr>
          <a:xfrm>
            <a:off x="640080" y="3474720"/>
            <a:ext cx="5486400" cy="1463040"/>
          </a:xfrm>
          <a:prstGeom prst="rect">
            <a:avLst/>
          </a:prstGeom>
          <a:noFill/>
          <a:ln/>
        </p:spPr>
        <p:txBody>
          <a:bodyPr wrap="square" lIns="0" tIns="0" rIns="0" bIns="0" rtlCol="0" anchor="t"/>
          <a:lstStyle/>
          <a:p>
            <a:pPr algn="l" indent="0" marL="0">
              <a:buNone/>
            </a:pPr>
            <a:r>
              <a:rPr lang="en-US" sz="1800" dirty="0">
                <a:solidFill>
                  <a:schemeClr val="accent6"/>
                </a:solidFill>
              </a:rPr>
              <a:t>Dr. Padmanaban, Integrative Expert Practitioner: clinic queue, schedule, patient record, consultation and safety-checked e-prescriptions.</a:t>
            </a:r>
            <a:endParaRPr lang="en-US" sz="1800" dirty="0"/>
          </a:p>
        </p:txBody>
      </p:sp>
      <p:sp>
        <p:nvSpPr>
          <p:cNvPr id="5" name="Phone shadow"/>
          <p:cNvSpPr/>
          <p:nvPr/>
        </p:nvSpPr>
        <p:spPr>
          <a:xfrm>
            <a:off x="8595360" y="822960"/>
            <a:ext cx="2194560" cy="4736219"/>
          </a:xfrm>
          <a:prstGeom prst="rect">
            <a:avLst/>
          </a:prstGeom>
          <a:solidFill>
            <a:schemeClr val="bg1"/>
          </a:solidFill>
          <a:ln w="12700">
            <a:solidFill>
              <a:schemeClr val="bg1"/>
            </a:solidFill>
            <a:prstDash val="solid"/>
          </a:ln>
          <a:effectLst>
            <a:outerShdw sx="100000" sy="100000" kx="0" ky="0" algn="bl" rotWithShape="0" blurRad="177800" dist="63500" dir="5400000">
              <a:srgbClr val="000000">
                <a:alpha val="30000"/>
              </a:srgbClr>
            </a:outerShdw>
          </a:effectLst>
        </p:spPr>
      </p:sp>
      <p:pic>
        <p:nvPicPr>
          <p:cNvPr id="6" name="Doctor phone screen" descr="Doctor day queue on a phone">    </p:cNvPr>
          <p:cNvPicPr>
            <a:picLocks noChangeAspect="1"/>
          </p:cNvPicPr>
          <p:nvPr/>
        </p:nvPicPr>
        <p:blipFill>
          <a:blip r:embed="rId1"/>
          <a:stretch>
            <a:fillRect/>
          </a:stretch>
        </p:blipFill>
        <p:spPr>
          <a:xfrm>
            <a:off x="8595360" y="822960"/>
            <a:ext cx="2194560" cy="4736219"/>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Kicker"/>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DOCTOR · TODAY</a:t>
            </a:r>
            <a:endParaRPr lang="en-US" sz="1100" dirty="0"/>
          </a:p>
        </p:txBody>
      </p:sp>
      <p:sp>
        <p:nvSpPr>
          <p:cNvPr id="3" name="Text 0"/>
          <p:cNvSpPr/>
          <p:nvPr>
            <p:ph idx="100"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dirty="0">
                <a:solidFill>
                  <a:schemeClr val="tx1"/>
                </a:solidFill>
              </a:rPr>
              <a:t>Today's clinic at a glance</a:t>
            </a:r>
            <a:endParaRPr lang="en-US" sz="3000" dirty="0"/>
          </a:p>
        </p:txBody>
      </p:sp>
      <p:sp>
        <p:nvSpPr>
          <p:cNvPr id="4" name="Today's clinic at a glance shadow"/>
          <p:cNvSpPr/>
          <p:nvPr/>
        </p:nvSpPr>
        <p:spPr>
          <a:xfrm>
            <a:off x="548640" y="1417320"/>
            <a:ext cx="7589520" cy="4749761"/>
          </a:xfrm>
          <a:prstGeom prst="rect">
            <a:avLst/>
          </a:prstGeom>
          <a:solidFill>
            <a:schemeClr val="bg1"/>
          </a:solidFill>
          <a:ln w="12700">
            <a:solidFill>
              <a:schemeClr val="bg1"/>
            </a:solidFill>
            <a:prstDash val="solid"/>
          </a:ln>
          <a:effectLst>
            <a:outerShdw sx="100000" sy="100000" kx="0" ky="0" algn="bl" rotWithShape="0" blurRad="127000" dist="38100" dir="5400000">
              <a:srgbClr val="173F3B">
                <a:alpha val="16000"/>
              </a:srgbClr>
            </a:outerShdw>
          </a:effectLst>
        </p:spPr>
      </p:sp>
      <p:pic>
        <p:nvPicPr>
          <p:cNvPr id="5" name="Today's clinic at a glance" descr="Today's clinic at a glance">    </p:cNvPr>
          <p:cNvPicPr>
            <a:picLocks noChangeAspect="1"/>
          </p:cNvPicPr>
          <p:nvPr/>
        </p:nvPicPr>
        <p:blipFill>
          <a:blip r:embed="rId1"/>
          <a:stretch>
            <a:fillRect/>
          </a:stretch>
        </p:blipFill>
        <p:spPr>
          <a:xfrm>
            <a:off x="548640" y="1417320"/>
            <a:ext cx="7589520" cy="4749761"/>
          </a:xfrm>
          <a:prstGeom prst="rect">
            <a:avLst/>
          </a:prstGeom>
        </p:spPr>
      </p:pic>
      <p:sp>
        <p:nvSpPr>
          <p:cNvPr id="6" name="Point 1 marker"/>
          <p:cNvSpPr/>
          <p:nvPr/>
        </p:nvSpPr>
        <p:spPr>
          <a:xfrm>
            <a:off x="8595360" y="1527048"/>
            <a:ext cx="310896" cy="310896"/>
          </a:xfrm>
          <a:prstGeom prst="ellipse">
            <a:avLst/>
          </a:prstGeom>
          <a:solidFill>
            <a:schemeClr val="accent1"/>
          </a:solidFill>
          <a:ln w="12700">
            <a:solidFill>
              <a:schemeClr val="accent1"/>
            </a:solidFill>
            <a:prstDash val="solid"/>
          </a:ln>
        </p:spPr>
      </p:sp>
      <p:sp>
        <p:nvSpPr>
          <p:cNvPr id="7" name="Point 1 number"/>
          <p:cNvSpPr txBox="1"/>
          <p:nvPr/>
        </p:nvSpPr>
        <p:spPr>
          <a:xfrm>
            <a:off x="8595360" y="1527048"/>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8" name="Point 1"/>
          <p:cNvSpPr txBox="1"/>
          <p:nvPr/>
        </p:nvSpPr>
        <p:spPr>
          <a:xfrm>
            <a:off x="9052560" y="1490472"/>
            <a:ext cx="2590495" cy="916686"/>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Day queue</a:t>
            </a:r>
            <a:endParaRPr lang="en-US" sz="1500" dirty="0"/>
          </a:p>
          <a:p>
            <a:pPr indent="0" marL="0">
              <a:spcAft>
                <a:spcPts val="200"/>
              </a:spcAft>
              <a:buNone/>
            </a:pPr>
            <a:r>
              <a:rPr lang="en-US" sz="1300" dirty="0">
                <a:solidFill>
                  <a:schemeClr val="accent5"/>
                </a:solidFill>
              </a:rPr>
              <a:t>Patients in time order; checked-in patients are highlighted as waiting.</a:t>
            </a:r>
            <a:endParaRPr lang="en-US" sz="1500" dirty="0"/>
          </a:p>
        </p:txBody>
      </p:sp>
      <p:sp>
        <p:nvSpPr>
          <p:cNvPr id="9" name="Point 2 marker"/>
          <p:cNvSpPr/>
          <p:nvPr/>
        </p:nvSpPr>
        <p:spPr>
          <a:xfrm>
            <a:off x="8595360" y="2681478"/>
            <a:ext cx="310896" cy="310896"/>
          </a:xfrm>
          <a:prstGeom prst="ellipse">
            <a:avLst/>
          </a:prstGeom>
          <a:solidFill>
            <a:schemeClr val="accent1"/>
          </a:solidFill>
          <a:ln w="12700">
            <a:solidFill>
              <a:schemeClr val="accent1"/>
            </a:solidFill>
            <a:prstDash val="solid"/>
          </a:ln>
        </p:spPr>
      </p:sp>
      <p:sp>
        <p:nvSpPr>
          <p:cNvPr id="10" name="Point 2 number"/>
          <p:cNvSpPr txBox="1"/>
          <p:nvPr/>
        </p:nvSpPr>
        <p:spPr>
          <a:xfrm>
            <a:off x="8595360" y="2681478"/>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1" name="Point 2"/>
          <p:cNvSpPr txBox="1"/>
          <p:nvPr/>
        </p:nvSpPr>
        <p:spPr>
          <a:xfrm>
            <a:off x="9052560" y="2644902"/>
            <a:ext cx="2590495" cy="500634"/>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Booking requests</a:t>
            </a:r>
            <a:endParaRPr lang="en-US" sz="1500" dirty="0"/>
          </a:p>
          <a:p>
            <a:pPr indent="0" marL="0">
              <a:spcAft>
                <a:spcPts val="200"/>
              </a:spcAft>
              <a:buNone/>
            </a:pPr>
            <a:r>
              <a:rPr lang="en-US" sz="1300" dirty="0">
                <a:solidFill>
                  <a:schemeClr val="accent5"/>
                </a:solidFill>
              </a:rPr>
              <a:t>Accept or reject in one click.</a:t>
            </a:r>
            <a:endParaRPr lang="en-US" sz="1500" dirty="0"/>
          </a:p>
        </p:txBody>
      </p:sp>
      <p:sp>
        <p:nvSpPr>
          <p:cNvPr id="12" name="Point 3 marker"/>
          <p:cNvSpPr/>
          <p:nvPr/>
        </p:nvSpPr>
        <p:spPr>
          <a:xfrm>
            <a:off x="8595360" y="3419856"/>
            <a:ext cx="310896" cy="310896"/>
          </a:xfrm>
          <a:prstGeom prst="ellipse">
            <a:avLst/>
          </a:prstGeom>
          <a:solidFill>
            <a:schemeClr val="accent1"/>
          </a:solidFill>
          <a:ln w="12700">
            <a:solidFill>
              <a:schemeClr val="accent1"/>
            </a:solidFill>
            <a:prstDash val="solid"/>
          </a:ln>
        </p:spPr>
      </p:sp>
      <p:sp>
        <p:nvSpPr>
          <p:cNvPr id="13" name="Point 3 number"/>
          <p:cNvSpPr txBox="1"/>
          <p:nvPr/>
        </p:nvSpPr>
        <p:spPr>
          <a:xfrm>
            <a:off x="8595360" y="3419856"/>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4" name="Point 3"/>
          <p:cNvSpPr txBox="1"/>
          <p:nvPr/>
        </p:nvSpPr>
        <p:spPr>
          <a:xfrm>
            <a:off x="9052560" y="3383280"/>
            <a:ext cx="2590495" cy="7086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Alerts</a:t>
            </a:r>
            <a:endParaRPr lang="en-US" sz="1500" dirty="0"/>
          </a:p>
          <a:p>
            <a:pPr indent="0" marL="0">
              <a:spcAft>
                <a:spcPts val="200"/>
              </a:spcAft>
              <a:buNone/>
            </a:pPr>
            <a:r>
              <a:rPr lang="en-US" sz="1300" dirty="0">
                <a:solidFill>
                  <a:schemeClr val="accent5"/>
                </a:solidFill>
              </a:rPr>
              <a:t>Abnormal results and new requests.</a:t>
            </a:r>
            <a:endParaRPr lang="en-US" sz="1500" dirty="0"/>
          </a:p>
        </p:txBody>
      </p:sp>
      <p:sp>
        <p:nvSpPr>
          <p:cNvPr id="15" name="Point 4 marker"/>
          <p:cNvSpPr/>
          <p:nvPr/>
        </p:nvSpPr>
        <p:spPr>
          <a:xfrm>
            <a:off x="8595360" y="4366260"/>
            <a:ext cx="310896" cy="310896"/>
          </a:xfrm>
          <a:prstGeom prst="ellipse">
            <a:avLst/>
          </a:prstGeom>
          <a:solidFill>
            <a:schemeClr val="accent1"/>
          </a:solidFill>
          <a:ln w="12700">
            <a:solidFill>
              <a:schemeClr val="accent1"/>
            </a:solidFill>
            <a:prstDash val="solid"/>
          </a:ln>
        </p:spPr>
      </p:sp>
      <p:sp>
        <p:nvSpPr>
          <p:cNvPr id="16" name="Point 4 number"/>
          <p:cNvSpPr txBox="1"/>
          <p:nvPr/>
        </p:nvSpPr>
        <p:spPr>
          <a:xfrm>
            <a:off x="8595360" y="4366260"/>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7" name="Point 4"/>
          <p:cNvSpPr txBox="1"/>
          <p:nvPr/>
        </p:nvSpPr>
        <p:spPr>
          <a:xfrm>
            <a:off x="9052560" y="4329684"/>
            <a:ext cx="2590495" cy="7086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Start consult</a:t>
            </a:r>
            <a:endParaRPr lang="en-US" sz="1500" dirty="0"/>
          </a:p>
          <a:p>
            <a:pPr indent="0" marL="0">
              <a:spcAft>
                <a:spcPts val="200"/>
              </a:spcAft>
              <a:buNone/>
            </a:pPr>
            <a:r>
              <a:rPr lang="en-US" sz="1300" dirty="0">
                <a:solidFill>
                  <a:schemeClr val="accent5"/>
                </a:solidFill>
              </a:rPr>
              <a:t>Opens the consultation workspace for the patient.</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Kicker"/>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DOCTOR · SCHEDULE</a:t>
            </a:r>
            <a:endParaRPr lang="en-US" sz="1100" dirty="0"/>
          </a:p>
        </p:txBody>
      </p:sp>
      <p:sp>
        <p:nvSpPr>
          <p:cNvPr id="3" name="Text 0"/>
          <p:cNvSpPr/>
          <p:nvPr>
            <p:ph idx="100"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dirty="0">
                <a:solidFill>
                  <a:schemeClr val="tx1"/>
                </a:solidFill>
              </a:rPr>
              <a:t>The doctor controls availability and fees</a:t>
            </a:r>
            <a:endParaRPr lang="en-US" sz="3000" dirty="0"/>
          </a:p>
        </p:txBody>
      </p:sp>
      <p:sp>
        <p:nvSpPr>
          <p:cNvPr id="4" name="Calendar: accept, reject, reschedule, cancel shadow"/>
          <p:cNvSpPr/>
          <p:nvPr/>
        </p:nvSpPr>
        <p:spPr>
          <a:xfrm>
            <a:off x="548640" y="1946572"/>
            <a:ext cx="5394960" cy="3376336"/>
          </a:xfrm>
          <a:prstGeom prst="rect">
            <a:avLst/>
          </a:prstGeom>
          <a:solidFill>
            <a:schemeClr val="bg1"/>
          </a:solidFill>
          <a:ln w="12700">
            <a:solidFill>
              <a:schemeClr val="bg1"/>
            </a:solidFill>
            <a:prstDash val="solid"/>
          </a:ln>
          <a:effectLst>
            <a:outerShdw sx="100000" sy="100000" kx="0" ky="0" algn="bl" rotWithShape="0" blurRad="127000" dist="38100" dir="5400000">
              <a:srgbClr val="173F3B">
                <a:alpha val="16000"/>
              </a:srgbClr>
            </a:outerShdw>
          </a:effectLst>
        </p:spPr>
      </p:sp>
      <p:pic>
        <p:nvPicPr>
          <p:cNvPr id="5" name="Calendar: accept, reject, reschedule, cancel" descr="Calendar: accept, reject, reschedule, cancel">    </p:cNvPr>
          <p:cNvPicPr>
            <a:picLocks noChangeAspect="1"/>
          </p:cNvPicPr>
          <p:nvPr/>
        </p:nvPicPr>
        <p:blipFill>
          <a:blip r:embed="rId1"/>
          <a:stretch>
            <a:fillRect/>
          </a:stretch>
        </p:blipFill>
        <p:spPr>
          <a:xfrm>
            <a:off x="548640" y="1946572"/>
            <a:ext cx="5394960" cy="3376336"/>
          </a:xfrm>
          <a:prstGeom prst="rect">
            <a:avLst/>
          </a:prstGeom>
        </p:spPr>
      </p:pic>
      <p:sp>
        <p:nvSpPr>
          <p:cNvPr id="6" name="Working hours with lunch break and 5-minute buffer shadow"/>
          <p:cNvSpPr/>
          <p:nvPr/>
        </p:nvSpPr>
        <p:spPr>
          <a:xfrm>
            <a:off x="6245352" y="1946572"/>
            <a:ext cx="5394960" cy="3376336"/>
          </a:xfrm>
          <a:prstGeom prst="rect">
            <a:avLst/>
          </a:prstGeom>
          <a:solidFill>
            <a:schemeClr val="bg1"/>
          </a:solidFill>
          <a:ln w="12700">
            <a:solidFill>
              <a:schemeClr val="bg1"/>
            </a:solidFill>
            <a:prstDash val="solid"/>
          </a:ln>
          <a:effectLst>
            <a:outerShdw sx="100000" sy="100000" kx="0" ky="0" algn="bl" rotWithShape="0" blurRad="127000" dist="38100" dir="5400000">
              <a:srgbClr val="173F3B">
                <a:alpha val="16000"/>
              </a:srgbClr>
            </a:outerShdw>
          </a:effectLst>
        </p:spPr>
      </p:sp>
      <p:pic>
        <p:nvPicPr>
          <p:cNvPr id="7" name="Working hours with lunch break and 5-minute buffer" descr="Working hours with lunch break and 5-minute buffer">    </p:cNvPr>
          <p:cNvPicPr>
            <a:picLocks noChangeAspect="1"/>
          </p:cNvPicPr>
          <p:nvPr/>
        </p:nvPicPr>
        <p:blipFill>
          <a:blip r:embed="rId2"/>
          <a:stretch>
            <a:fillRect/>
          </a:stretch>
        </p:blipFill>
        <p:spPr>
          <a:xfrm>
            <a:off x="6245352" y="1946572"/>
            <a:ext cx="5394960" cy="3376336"/>
          </a:xfrm>
          <a:prstGeom prst="rect">
            <a:avLst/>
          </a:prstGeom>
        </p:spPr>
      </p:pic>
      <p:sp>
        <p:nvSpPr>
          <p:cNvPr id="8" name="Caption"/>
          <p:cNvSpPr txBox="1"/>
          <p:nvPr/>
        </p:nvSpPr>
        <p:spPr>
          <a:xfrm>
            <a:off x="548640" y="5432636"/>
            <a:ext cx="5394960" cy="274320"/>
          </a:xfrm>
          <a:prstGeom prst="rect">
            <a:avLst/>
          </a:prstGeom>
          <a:noFill/>
          <a:ln/>
        </p:spPr>
        <p:txBody>
          <a:bodyPr wrap="square" lIns="0" tIns="0" rIns="0" bIns="0" rtlCol="0" anchor="ctr"/>
          <a:lstStyle/>
          <a:p>
            <a:pPr algn="ctr" indent="0" marL="0">
              <a:buNone/>
            </a:pPr>
            <a:r>
              <a:rPr lang="en-US" sz="1100" i="1" dirty="0">
                <a:solidFill>
                  <a:schemeClr val="accent5"/>
                </a:solidFill>
              </a:rPr>
              <a:t>Calendar: accept, reject, reschedule, cancel</a:t>
            </a:r>
            <a:endParaRPr lang="en-US" sz="1100" dirty="0"/>
          </a:p>
        </p:txBody>
      </p:sp>
      <p:sp>
        <p:nvSpPr>
          <p:cNvPr id="9" name="Caption"/>
          <p:cNvSpPr txBox="1"/>
          <p:nvPr/>
        </p:nvSpPr>
        <p:spPr>
          <a:xfrm>
            <a:off x="6245352" y="5432636"/>
            <a:ext cx="5394960" cy="274320"/>
          </a:xfrm>
          <a:prstGeom prst="rect">
            <a:avLst/>
          </a:prstGeom>
          <a:noFill/>
          <a:ln/>
        </p:spPr>
        <p:txBody>
          <a:bodyPr wrap="square" lIns="0" tIns="0" rIns="0" bIns="0" rtlCol="0" anchor="ctr"/>
          <a:lstStyle/>
          <a:p>
            <a:pPr algn="ctr" indent="0" marL="0">
              <a:buNone/>
            </a:pPr>
            <a:r>
              <a:rPr lang="en-US" sz="1100" i="1" dirty="0">
                <a:solidFill>
                  <a:schemeClr val="accent5"/>
                </a:solidFill>
              </a:rPr>
              <a:t>Working hours with lunch break and 5-minute buffer</a:t>
            </a:r>
            <a:endParaRPr lang="en-US" sz="11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Kicker"/>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DOCTOR · PATIENT RECORD</a:t>
            </a:r>
            <a:endParaRPr lang="en-US" sz="1100" dirty="0"/>
          </a:p>
        </p:txBody>
      </p:sp>
      <p:sp>
        <p:nvSpPr>
          <p:cNvPr id="3" name="Text 0"/>
          <p:cNvSpPr/>
          <p:nvPr>
            <p:ph idx="100"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dirty="0">
                <a:solidFill>
                  <a:schemeClr val="tx1"/>
                </a:solidFill>
              </a:rPr>
              <a:t>The whole patient record on one screen</a:t>
            </a:r>
            <a:endParaRPr lang="en-US" sz="3000" dirty="0"/>
          </a:p>
        </p:txBody>
      </p:sp>
      <p:sp>
        <p:nvSpPr>
          <p:cNvPr id="4" name="The whole patient record on one screen shadow"/>
          <p:cNvSpPr/>
          <p:nvPr/>
        </p:nvSpPr>
        <p:spPr>
          <a:xfrm>
            <a:off x="548640" y="1417320"/>
            <a:ext cx="7589520" cy="4749761"/>
          </a:xfrm>
          <a:prstGeom prst="rect">
            <a:avLst/>
          </a:prstGeom>
          <a:solidFill>
            <a:schemeClr val="bg1"/>
          </a:solidFill>
          <a:ln w="12700">
            <a:solidFill>
              <a:schemeClr val="bg1"/>
            </a:solidFill>
            <a:prstDash val="solid"/>
          </a:ln>
          <a:effectLst>
            <a:outerShdw sx="100000" sy="100000" kx="0" ky="0" algn="bl" rotWithShape="0" blurRad="127000" dist="38100" dir="5400000">
              <a:srgbClr val="173F3B">
                <a:alpha val="16000"/>
              </a:srgbClr>
            </a:outerShdw>
          </a:effectLst>
        </p:spPr>
      </p:sp>
      <p:pic>
        <p:nvPicPr>
          <p:cNvPr id="5" name="The whole patient record on one screen" descr="The whole patient record on one screen">    </p:cNvPr>
          <p:cNvPicPr>
            <a:picLocks noChangeAspect="1"/>
          </p:cNvPicPr>
          <p:nvPr/>
        </p:nvPicPr>
        <p:blipFill>
          <a:blip r:embed="rId1"/>
          <a:stretch>
            <a:fillRect/>
          </a:stretch>
        </p:blipFill>
        <p:spPr>
          <a:xfrm>
            <a:off x="548640" y="1417320"/>
            <a:ext cx="7589520" cy="4749761"/>
          </a:xfrm>
          <a:prstGeom prst="rect">
            <a:avLst/>
          </a:prstGeom>
        </p:spPr>
      </p:pic>
      <p:sp>
        <p:nvSpPr>
          <p:cNvPr id="6" name="Point 1 marker"/>
          <p:cNvSpPr/>
          <p:nvPr/>
        </p:nvSpPr>
        <p:spPr>
          <a:xfrm>
            <a:off x="8595360" y="1527048"/>
            <a:ext cx="310896" cy="310896"/>
          </a:xfrm>
          <a:prstGeom prst="ellipse">
            <a:avLst/>
          </a:prstGeom>
          <a:solidFill>
            <a:schemeClr val="accent1"/>
          </a:solidFill>
          <a:ln w="12700">
            <a:solidFill>
              <a:schemeClr val="accent1"/>
            </a:solidFill>
            <a:prstDash val="solid"/>
          </a:ln>
        </p:spPr>
      </p:sp>
      <p:sp>
        <p:nvSpPr>
          <p:cNvPr id="7" name="Point 1 number"/>
          <p:cNvSpPr txBox="1"/>
          <p:nvPr/>
        </p:nvSpPr>
        <p:spPr>
          <a:xfrm>
            <a:off x="8595360" y="1527048"/>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8" name="Point 1"/>
          <p:cNvSpPr txBox="1"/>
          <p:nvPr/>
        </p:nvSpPr>
        <p:spPr>
          <a:xfrm>
            <a:off x="9052560" y="1490472"/>
            <a:ext cx="2590495" cy="916686"/>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Summary first</a:t>
            </a:r>
            <a:endParaRPr lang="en-US" sz="1500" dirty="0"/>
          </a:p>
          <a:p>
            <a:pPr indent="0" marL="0">
              <a:spcAft>
                <a:spcPts val="200"/>
              </a:spcAft>
              <a:buNone/>
            </a:pPr>
            <a:r>
              <a:rPr lang="en-US" sz="1300" dirty="0">
                <a:solidFill>
                  <a:schemeClr val="accent5"/>
                </a:solidFill>
              </a:rPr>
              <a:t>Demographics, vitals, history, allergies and current medicines.</a:t>
            </a:r>
            <a:endParaRPr lang="en-US" sz="1500" dirty="0"/>
          </a:p>
        </p:txBody>
      </p:sp>
      <p:sp>
        <p:nvSpPr>
          <p:cNvPr id="9" name="Point 2 marker"/>
          <p:cNvSpPr/>
          <p:nvPr/>
        </p:nvSpPr>
        <p:spPr>
          <a:xfrm>
            <a:off x="8595360" y="2681478"/>
            <a:ext cx="310896" cy="310896"/>
          </a:xfrm>
          <a:prstGeom prst="ellipse">
            <a:avLst/>
          </a:prstGeom>
          <a:solidFill>
            <a:schemeClr val="accent1"/>
          </a:solidFill>
          <a:ln w="12700">
            <a:solidFill>
              <a:schemeClr val="accent1"/>
            </a:solidFill>
            <a:prstDash val="solid"/>
          </a:ln>
        </p:spPr>
      </p:sp>
      <p:sp>
        <p:nvSpPr>
          <p:cNvPr id="10" name="Point 2 number"/>
          <p:cNvSpPr txBox="1"/>
          <p:nvPr/>
        </p:nvSpPr>
        <p:spPr>
          <a:xfrm>
            <a:off x="8595360" y="2681478"/>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1" name="Point 2"/>
          <p:cNvSpPr txBox="1"/>
          <p:nvPr/>
        </p:nvSpPr>
        <p:spPr>
          <a:xfrm>
            <a:off x="9052560" y="2644902"/>
            <a:ext cx="2590495" cy="7086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Pre-visit answers</a:t>
            </a:r>
            <a:endParaRPr lang="en-US" sz="1500" dirty="0"/>
          </a:p>
          <a:p>
            <a:pPr indent="0" marL="0">
              <a:spcAft>
                <a:spcPts val="200"/>
              </a:spcAft>
              <a:buNone/>
            </a:pPr>
            <a:r>
              <a:rPr lang="en-US" sz="1300" dirty="0">
                <a:solidFill>
                  <a:schemeClr val="accent5"/>
                </a:solidFill>
              </a:rPr>
              <a:t>What the patient told us when booking.</a:t>
            </a:r>
            <a:endParaRPr lang="en-US" sz="1500" dirty="0"/>
          </a:p>
        </p:txBody>
      </p:sp>
      <p:sp>
        <p:nvSpPr>
          <p:cNvPr id="12" name="Point 3 marker"/>
          <p:cNvSpPr/>
          <p:nvPr/>
        </p:nvSpPr>
        <p:spPr>
          <a:xfrm>
            <a:off x="8595360" y="3627882"/>
            <a:ext cx="310896" cy="310896"/>
          </a:xfrm>
          <a:prstGeom prst="ellipse">
            <a:avLst/>
          </a:prstGeom>
          <a:solidFill>
            <a:schemeClr val="accent1"/>
          </a:solidFill>
          <a:ln w="12700">
            <a:solidFill>
              <a:schemeClr val="accent1"/>
            </a:solidFill>
            <a:prstDash val="solid"/>
          </a:ln>
        </p:spPr>
      </p:sp>
      <p:sp>
        <p:nvSpPr>
          <p:cNvPr id="13" name="Point 3 number"/>
          <p:cNvSpPr txBox="1"/>
          <p:nvPr/>
        </p:nvSpPr>
        <p:spPr>
          <a:xfrm>
            <a:off x="8595360" y="3627882"/>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4" name="Point 3"/>
          <p:cNvSpPr txBox="1"/>
          <p:nvPr/>
        </p:nvSpPr>
        <p:spPr>
          <a:xfrm>
            <a:off x="9052560" y="3591306"/>
            <a:ext cx="2590495" cy="916686"/>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History</a:t>
            </a:r>
            <a:endParaRPr lang="en-US" sz="1500" dirty="0"/>
          </a:p>
          <a:p>
            <a:pPr indent="0" marL="0">
              <a:spcAft>
                <a:spcPts val="200"/>
              </a:spcAft>
              <a:buNone/>
            </a:pPr>
            <a:r>
              <a:rPr lang="en-US" sz="1300" dirty="0">
                <a:solidFill>
                  <a:schemeClr val="accent5"/>
                </a:solidFill>
              </a:rPr>
              <a:t>Past consultations, prescriptions, results and uploaded reports.</a:t>
            </a:r>
            <a:endParaRPr lang="en-US" sz="1500" dirty="0"/>
          </a:p>
        </p:txBody>
      </p:sp>
      <p:sp>
        <p:nvSpPr>
          <p:cNvPr id="15" name="Point 4 marker"/>
          <p:cNvSpPr/>
          <p:nvPr/>
        </p:nvSpPr>
        <p:spPr>
          <a:xfrm>
            <a:off x="8595360" y="4782312"/>
            <a:ext cx="310896" cy="310896"/>
          </a:xfrm>
          <a:prstGeom prst="ellipse">
            <a:avLst/>
          </a:prstGeom>
          <a:solidFill>
            <a:schemeClr val="accent1"/>
          </a:solidFill>
          <a:ln w="12700">
            <a:solidFill>
              <a:schemeClr val="accent1"/>
            </a:solidFill>
            <a:prstDash val="solid"/>
          </a:ln>
        </p:spPr>
      </p:sp>
      <p:sp>
        <p:nvSpPr>
          <p:cNvPr id="16" name="Point 4 number"/>
          <p:cNvSpPr txBox="1"/>
          <p:nvPr/>
        </p:nvSpPr>
        <p:spPr>
          <a:xfrm>
            <a:off x="8595360" y="4782312"/>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7" name="Point 4"/>
          <p:cNvSpPr txBox="1"/>
          <p:nvPr/>
        </p:nvSpPr>
        <p:spPr>
          <a:xfrm>
            <a:off x="9052560" y="4745736"/>
            <a:ext cx="2590495" cy="7086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Access by relationship</a:t>
            </a:r>
            <a:endParaRPr lang="en-US" sz="1500" dirty="0"/>
          </a:p>
          <a:p>
            <a:pPr indent="0" marL="0">
              <a:spcAft>
                <a:spcPts val="200"/>
              </a:spcAft>
              <a:buNone/>
            </a:pPr>
            <a:r>
              <a:rPr lang="en-US" sz="1300" dirty="0">
                <a:solidFill>
                  <a:schemeClr val="accent5"/>
                </a:solidFill>
              </a:rPr>
              <a:t>Only patients with a booking, visit or referral appear.</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Kicker"/>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DOCTOR · CONSULTATION</a:t>
            </a:r>
            <a:endParaRPr lang="en-US" sz="1100" dirty="0"/>
          </a:p>
        </p:txBody>
      </p:sp>
      <p:sp>
        <p:nvSpPr>
          <p:cNvPr id="3" name="Text 0"/>
          <p:cNvSpPr/>
          <p:nvPr>
            <p:ph idx="100"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dirty="0">
                <a:solidFill>
                  <a:schemeClr val="tx1"/>
                </a:solidFill>
              </a:rPr>
              <a:t>Consultation workspace</a:t>
            </a:r>
            <a:endParaRPr lang="en-US" sz="3000" dirty="0"/>
          </a:p>
        </p:txBody>
      </p:sp>
      <p:sp>
        <p:nvSpPr>
          <p:cNvPr id="4" name="Consultation workspace shadow"/>
          <p:cNvSpPr/>
          <p:nvPr/>
        </p:nvSpPr>
        <p:spPr>
          <a:xfrm>
            <a:off x="548640" y="1417320"/>
            <a:ext cx="7589520" cy="4749761"/>
          </a:xfrm>
          <a:prstGeom prst="rect">
            <a:avLst/>
          </a:prstGeom>
          <a:solidFill>
            <a:schemeClr val="bg1"/>
          </a:solidFill>
          <a:ln w="12700">
            <a:solidFill>
              <a:schemeClr val="bg1"/>
            </a:solidFill>
            <a:prstDash val="solid"/>
          </a:ln>
          <a:effectLst>
            <a:outerShdw sx="100000" sy="100000" kx="0" ky="0" algn="bl" rotWithShape="0" blurRad="127000" dist="38100" dir="5400000">
              <a:srgbClr val="173F3B">
                <a:alpha val="16000"/>
              </a:srgbClr>
            </a:outerShdw>
          </a:effectLst>
        </p:spPr>
      </p:sp>
      <p:pic>
        <p:nvPicPr>
          <p:cNvPr id="5" name="Consultation workspace" descr="Consultation workspace">    </p:cNvPr>
          <p:cNvPicPr>
            <a:picLocks noChangeAspect="1"/>
          </p:cNvPicPr>
          <p:nvPr/>
        </p:nvPicPr>
        <p:blipFill>
          <a:blip r:embed="rId1"/>
          <a:stretch>
            <a:fillRect/>
          </a:stretch>
        </p:blipFill>
        <p:spPr>
          <a:xfrm>
            <a:off x="548640" y="1417320"/>
            <a:ext cx="7589520" cy="4749761"/>
          </a:xfrm>
          <a:prstGeom prst="rect">
            <a:avLst/>
          </a:prstGeom>
        </p:spPr>
      </p:pic>
      <p:sp>
        <p:nvSpPr>
          <p:cNvPr id="6" name="Point 1 marker"/>
          <p:cNvSpPr/>
          <p:nvPr/>
        </p:nvSpPr>
        <p:spPr>
          <a:xfrm>
            <a:off x="8595360" y="1527048"/>
            <a:ext cx="310896" cy="310896"/>
          </a:xfrm>
          <a:prstGeom prst="ellipse">
            <a:avLst/>
          </a:prstGeom>
          <a:solidFill>
            <a:schemeClr val="accent1"/>
          </a:solidFill>
          <a:ln w="12700">
            <a:solidFill>
              <a:schemeClr val="accent1"/>
            </a:solidFill>
            <a:prstDash val="solid"/>
          </a:ln>
        </p:spPr>
      </p:sp>
      <p:sp>
        <p:nvSpPr>
          <p:cNvPr id="7" name="Point 1 number"/>
          <p:cNvSpPr txBox="1"/>
          <p:nvPr/>
        </p:nvSpPr>
        <p:spPr>
          <a:xfrm>
            <a:off x="8595360" y="1527048"/>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8" name="Point 1"/>
          <p:cNvSpPr txBox="1"/>
          <p:nvPr/>
        </p:nvSpPr>
        <p:spPr>
          <a:xfrm>
            <a:off x="9052560" y="1490472"/>
            <a:ext cx="2590495" cy="916686"/>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SOAP notes</a:t>
            </a:r>
            <a:endParaRPr lang="en-US" sz="1500" dirty="0"/>
          </a:p>
          <a:p>
            <a:pPr indent="0" marL="0">
              <a:spcAft>
                <a:spcPts val="200"/>
              </a:spcAft>
              <a:buNone/>
            </a:pPr>
            <a:r>
              <a:rPr lang="en-US" sz="1300" dirty="0">
                <a:solidFill>
                  <a:schemeClr val="accent5"/>
                </a:solidFill>
              </a:rPr>
              <a:t>Prefilled from the pre-visit answers; templates and quick text.</a:t>
            </a:r>
            <a:endParaRPr lang="en-US" sz="1500" dirty="0"/>
          </a:p>
        </p:txBody>
      </p:sp>
      <p:sp>
        <p:nvSpPr>
          <p:cNvPr id="9" name="Point 2 marker"/>
          <p:cNvSpPr/>
          <p:nvPr/>
        </p:nvSpPr>
        <p:spPr>
          <a:xfrm>
            <a:off x="8595360" y="2681478"/>
            <a:ext cx="310896" cy="310896"/>
          </a:xfrm>
          <a:prstGeom prst="ellipse">
            <a:avLst/>
          </a:prstGeom>
          <a:solidFill>
            <a:schemeClr val="accent1"/>
          </a:solidFill>
          <a:ln w="12700">
            <a:solidFill>
              <a:schemeClr val="accent1"/>
            </a:solidFill>
            <a:prstDash val="solid"/>
          </a:ln>
        </p:spPr>
      </p:sp>
      <p:sp>
        <p:nvSpPr>
          <p:cNvPr id="10" name="Point 2 number"/>
          <p:cNvSpPr txBox="1"/>
          <p:nvPr/>
        </p:nvSpPr>
        <p:spPr>
          <a:xfrm>
            <a:off x="8595360" y="2681478"/>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1" name="Point 2"/>
          <p:cNvSpPr txBox="1"/>
          <p:nvPr/>
        </p:nvSpPr>
        <p:spPr>
          <a:xfrm>
            <a:off x="9052560" y="2644902"/>
            <a:ext cx="2590495" cy="7086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Voice dictation</a:t>
            </a:r>
            <a:endParaRPr lang="en-US" sz="1500" dirty="0"/>
          </a:p>
          <a:p>
            <a:pPr indent="0" marL="0">
              <a:spcAft>
                <a:spcPts val="200"/>
              </a:spcAft>
              <a:buNone/>
            </a:pPr>
            <a:r>
              <a:rPr lang="en-US" sz="1300" dirty="0">
                <a:solidFill>
                  <a:schemeClr val="accent5"/>
                </a:solidFill>
              </a:rPr>
              <a:t>In Chrome or Edge, using the browser's speech recognition.</a:t>
            </a:r>
            <a:endParaRPr lang="en-US" sz="1500" dirty="0"/>
          </a:p>
        </p:txBody>
      </p:sp>
      <p:sp>
        <p:nvSpPr>
          <p:cNvPr id="12" name="Point 3 marker"/>
          <p:cNvSpPr/>
          <p:nvPr/>
        </p:nvSpPr>
        <p:spPr>
          <a:xfrm>
            <a:off x="8595360" y="3627882"/>
            <a:ext cx="310896" cy="310896"/>
          </a:xfrm>
          <a:prstGeom prst="ellipse">
            <a:avLst/>
          </a:prstGeom>
          <a:solidFill>
            <a:schemeClr val="accent1"/>
          </a:solidFill>
          <a:ln w="12700">
            <a:solidFill>
              <a:schemeClr val="accent1"/>
            </a:solidFill>
            <a:prstDash val="solid"/>
          </a:ln>
        </p:spPr>
      </p:sp>
      <p:sp>
        <p:nvSpPr>
          <p:cNvPr id="13" name="Point 3 number"/>
          <p:cNvSpPr txBox="1"/>
          <p:nvPr/>
        </p:nvSpPr>
        <p:spPr>
          <a:xfrm>
            <a:off x="8595360" y="3627882"/>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4" name="Point 3"/>
          <p:cNvSpPr txBox="1"/>
          <p:nvPr/>
        </p:nvSpPr>
        <p:spPr>
          <a:xfrm>
            <a:off x="9052560" y="3591306"/>
            <a:ext cx="2590495" cy="7086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ICD-10 coding</a:t>
            </a:r>
            <a:endParaRPr lang="en-US" sz="1500" dirty="0"/>
          </a:p>
          <a:p>
            <a:pPr indent="0" marL="0">
              <a:spcAft>
                <a:spcPts val="200"/>
              </a:spcAft>
              <a:buNone/>
            </a:pPr>
            <a:r>
              <a:rPr lang="en-US" sz="1300" dirty="0">
                <a:solidFill>
                  <a:schemeClr val="accent5"/>
                </a:solidFill>
              </a:rPr>
              <a:t>Search by code or term (built-in demo subset).</a:t>
            </a:r>
            <a:endParaRPr lang="en-US" sz="1500" dirty="0"/>
          </a:p>
        </p:txBody>
      </p:sp>
      <p:sp>
        <p:nvSpPr>
          <p:cNvPr id="15" name="Point 4 marker"/>
          <p:cNvSpPr/>
          <p:nvPr/>
        </p:nvSpPr>
        <p:spPr>
          <a:xfrm>
            <a:off x="8595360" y="4574286"/>
            <a:ext cx="310896" cy="310896"/>
          </a:xfrm>
          <a:prstGeom prst="ellipse">
            <a:avLst/>
          </a:prstGeom>
          <a:solidFill>
            <a:schemeClr val="accent1"/>
          </a:solidFill>
          <a:ln w="12700">
            <a:solidFill>
              <a:schemeClr val="accent1"/>
            </a:solidFill>
            <a:prstDash val="solid"/>
          </a:ln>
        </p:spPr>
      </p:sp>
      <p:sp>
        <p:nvSpPr>
          <p:cNvPr id="16" name="Point 4 number"/>
          <p:cNvSpPr txBox="1"/>
          <p:nvPr/>
        </p:nvSpPr>
        <p:spPr>
          <a:xfrm>
            <a:off x="8595360" y="4574286"/>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7" name="Point 4"/>
          <p:cNvSpPr txBox="1"/>
          <p:nvPr/>
        </p:nvSpPr>
        <p:spPr>
          <a:xfrm>
            <a:off x="9052560" y="4537710"/>
            <a:ext cx="2590495" cy="7086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Patient snapshot</a:t>
            </a:r>
            <a:endParaRPr lang="en-US" sz="1500" dirty="0"/>
          </a:p>
          <a:p>
            <a:pPr indent="0" marL="0">
              <a:spcAft>
                <a:spcPts val="200"/>
              </a:spcAft>
              <a:buNone/>
            </a:pPr>
            <a:r>
              <a:rPr lang="en-US" sz="1300" dirty="0">
                <a:solidFill>
                  <a:schemeClr val="accent5"/>
                </a:solidFill>
              </a:rPr>
              <a:t>Allergies, medicines and vitals stay in view.</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Kicker"/>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DOCTOR · E-PRESCRIPTIONS</a:t>
            </a:r>
            <a:endParaRPr lang="en-US" sz="1100" dirty="0"/>
          </a:p>
        </p:txBody>
      </p:sp>
      <p:sp>
        <p:nvSpPr>
          <p:cNvPr id="3" name="Text 0"/>
          <p:cNvSpPr/>
          <p:nvPr>
            <p:ph idx="100"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dirty="0">
                <a:solidFill>
                  <a:schemeClr val="tx1"/>
                </a:solidFill>
              </a:rPr>
              <a:t>Safety checks run while the prescription is written</a:t>
            </a:r>
            <a:endParaRPr lang="en-US" sz="3000" dirty="0"/>
          </a:p>
        </p:txBody>
      </p:sp>
      <p:sp>
        <p:nvSpPr>
          <p:cNvPr id="4" name="Allergy warning shadow"/>
          <p:cNvSpPr/>
          <p:nvPr/>
        </p:nvSpPr>
        <p:spPr>
          <a:xfrm>
            <a:off x="548640" y="1783080"/>
            <a:ext cx="5394960" cy="2999011"/>
          </a:xfrm>
          <a:prstGeom prst="rect">
            <a:avLst/>
          </a:prstGeom>
          <a:solidFill>
            <a:schemeClr val="bg1"/>
          </a:solidFill>
          <a:ln w="12700">
            <a:solidFill>
              <a:schemeClr val="bg1"/>
            </a:solidFill>
            <a:prstDash val="solid"/>
          </a:ln>
          <a:effectLst>
            <a:outerShdw sx="100000" sy="100000" kx="0" ky="0" algn="bl" rotWithShape="0" blurRad="127000" dist="38100" dir="5400000">
              <a:srgbClr val="173F3B">
                <a:alpha val="16000"/>
              </a:srgbClr>
            </a:outerShdw>
          </a:effectLst>
        </p:spPr>
      </p:sp>
      <p:pic>
        <p:nvPicPr>
          <p:cNvPr id="5" name="Allergy warning" descr="Allergy warning">    </p:cNvPr>
          <p:cNvPicPr>
            <a:picLocks noChangeAspect="1"/>
          </p:cNvPicPr>
          <p:nvPr/>
        </p:nvPicPr>
        <p:blipFill>
          <a:blip r:embed="rId1"/>
          <a:stretch>
            <a:fillRect/>
          </a:stretch>
        </p:blipFill>
        <p:spPr>
          <a:xfrm>
            <a:off x="548640" y="1783080"/>
            <a:ext cx="5394960" cy="2999011"/>
          </a:xfrm>
          <a:prstGeom prst="rect">
            <a:avLst/>
          </a:prstGeom>
        </p:spPr>
      </p:pic>
      <p:sp>
        <p:nvSpPr>
          <p:cNvPr id="6" name="Interaction warning shadow"/>
          <p:cNvSpPr/>
          <p:nvPr/>
        </p:nvSpPr>
        <p:spPr>
          <a:xfrm>
            <a:off x="6245352" y="1783080"/>
            <a:ext cx="5394960" cy="2999011"/>
          </a:xfrm>
          <a:prstGeom prst="rect">
            <a:avLst/>
          </a:prstGeom>
          <a:solidFill>
            <a:schemeClr val="bg1"/>
          </a:solidFill>
          <a:ln w="12700">
            <a:solidFill>
              <a:schemeClr val="bg1"/>
            </a:solidFill>
            <a:prstDash val="solid"/>
          </a:ln>
          <a:effectLst>
            <a:outerShdw sx="100000" sy="100000" kx="0" ky="0" algn="bl" rotWithShape="0" blurRad="127000" dist="38100" dir="5400000">
              <a:srgbClr val="173F3B">
                <a:alpha val="16000"/>
              </a:srgbClr>
            </a:outerShdw>
          </a:effectLst>
        </p:spPr>
      </p:sp>
      <p:pic>
        <p:nvPicPr>
          <p:cNvPr id="7" name="Interaction warning" descr="Interaction warning">    </p:cNvPr>
          <p:cNvPicPr>
            <a:picLocks noChangeAspect="1"/>
          </p:cNvPicPr>
          <p:nvPr/>
        </p:nvPicPr>
        <p:blipFill>
          <a:blip r:embed="rId2"/>
          <a:stretch>
            <a:fillRect/>
          </a:stretch>
        </p:blipFill>
        <p:spPr>
          <a:xfrm>
            <a:off x="6245352" y="1783080"/>
            <a:ext cx="5394960" cy="2999011"/>
          </a:xfrm>
          <a:prstGeom prst="rect">
            <a:avLst/>
          </a:prstGeom>
        </p:spPr>
      </p:pic>
      <p:sp>
        <p:nvSpPr>
          <p:cNvPr id="8" name="Chip Allergy conflict: signing blocked"/>
          <p:cNvSpPr/>
          <p:nvPr/>
        </p:nvSpPr>
        <p:spPr>
          <a:xfrm>
            <a:off x="548640" y="1298448"/>
            <a:ext cx="3108960" cy="384048"/>
          </a:xfrm>
          <a:prstGeom prst="roundRect">
            <a:avLst>
              <a:gd name="adj" fmla="val 50000"/>
            </a:avLst>
          </a:prstGeom>
          <a:solidFill>
            <a:srgbClr val="FCEFEB"/>
          </a:solidFill>
          <a:ln w="12700">
            <a:solidFill>
              <a:srgbClr val="FCEFEB"/>
            </a:solidFill>
            <a:prstDash val="solid"/>
          </a:ln>
        </p:spPr>
      </p:sp>
      <p:sp>
        <p:nvSpPr>
          <p:cNvPr id="9" name="Chip Allergy conflict: signing blocked label"/>
          <p:cNvSpPr txBox="1"/>
          <p:nvPr/>
        </p:nvSpPr>
        <p:spPr>
          <a:xfrm>
            <a:off x="548640" y="1298448"/>
            <a:ext cx="3108960" cy="384048"/>
          </a:xfrm>
          <a:prstGeom prst="rect">
            <a:avLst/>
          </a:prstGeom>
          <a:noFill/>
          <a:ln/>
        </p:spPr>
        <p:txBody>
          <a:bodyPr wrap="square" lIns="0" tIns="0" rIns="0" bIns="0" rtlCol="0" anchor="ctr"/>
          <a:lstStyle/>
          <a:p>
            <a:pPr algn="ctr" indent="0" marL="0">
              <a:buNone/>
            </a:pPr>
            <a:r>
              <a:rPr lang="en-US" sz="1200" b="1" dirty="0">
                <a:solidFill>
                  <a:schemeClr val="accent2"/>
                </a:solidFill>
              </a:rPr>
              <a:t>Allergy conflict: signing blocked</a:t>
            </a:r>
            <a:endParaRPr lang="en-US" sz="1200" dirty="0"/>
          </a:p>
        </p:txBody>
      </p:sp>
      <p:sp>
        <p:nvSpPr>
          <p:cNvPr id="10" name="Chip Interaction: acknowledge, then sign"/>
          <p:cNvSpPr/>
          <p:nvPr/>
        </p:nvSpPr>
        <p:spPr>
          <a:xfrm>
            <a:off x="6245352" y="1298448"/>
            <a:ext cx="3291840" cy="384048"/>
          </a:xfrm>
          <a:prstGeom prst="roundRect">
            <a:avLst>
              <a:gd name="adj" fmla="val 50000"/>
            </a:avLst>
          </a:prstGeom>
          <a:solidFill>
            <a:srgbClr val="FAF1DC"/>
          </a:solidFill>
          <a:ln w="12700">
            <a:solidFill>
              <a:srgbClr val="FAF1DC"/>
            </a:solidFill>
            <a:prstDash val="solid"/>
          </a:ln>
        </p:spPr>
      </p:sp>
      <p:sp>
        <p:nvSpPr>
          <p:cNvPr id="11" name="Chip Interaction: acknowledge, then sign label"/>
          <p:cNvSpPr txBox="1"/>
          <p:nvPr/>
        </p:nvSpPr>
        <p:spPr>
          <a:xfrm>
            <a:off x="6245352" y="1298448"/>
            <a:ext cx="3291840" cy="384048"/>
          </a:xfrm>
          <a:prstGeom prst="rect">
            <a:avLst/>
          </a:prstGeom>
          <a:noFill/>
          <a:ln/>
        </p:spPr>
        <p:txBody>
          <a:bodyPr wrap="square" lIns="0" tIns="0" rIns="0" bIns="0" rtlCol="0" anchor="ctr"/>
          <a:lstStyle/>
          <a:p>
            <a:pPr algn="ctr" indent="0" marL="0">
              <a:buNone/>
            </a:pPr>
            <a:r>
              <a:rPr lang="en-US" sz="1200" b="1" dirty="0">
                <a:solidFill>
                  <a:schemeClr val="accent3"/>
                </a:solidFill>
              </a:rPr>
              <a:t>Interaction: acknowledge, then sign</a:t>
            </a:r>
            <a:endParaRPr lang="en-US" sz="1200" dirty="0"/>
          </a:p>
        </p:txBody>
      </p:sp>
      <p:sp>
        <p:nvSpPr>
          <p:cNvPr id="12" name="Allergy caption"/>
          <p:cNvSpPr txBox="1"/>
          <p:nvPr/>
        </p:nvSpPr>
        <p:spPr>
          <a:xfrm>
            <a:off x="548640" y="4919251"/>
            <a:ext cx="5394960" cy="548640"/>
          </a:xfrm>
          <a:prstGeom prst="rect">
            <a:avLst/>
          </a:prstGeom>
          <a:noFill/>
          <a:ln/>
        </p:spPr>
        <p:txBody>
          <a:bodyPr wrap="square" lIns="0" tIns="0" rIns="0" bIns="0" rtlCol="0" anchor="t"/>
          <a:lstStyle/>
          <a:p>
            <a:pPr indent="0" marL="0">
              <a:buNone/>
            </a:pPr>
            <a:r>
              <a:rPr lang="en-US" sz="1200" dirty="0">
                <a:solidFill>
                  <a:schemeClr val="tx1"/>
                </a:solidFill>
              </a:rPr>
              <a:t>Amoxicillin for a patient with a recorded penicillin allergy. "Sign &amp; issue" stays disabled until the warning is acknowledged.</a:t>
            </a:r>
            <a:endParaRPr lang="en-US" sz="1200" dirty="0"/>
          </a:p>
        </p:txBody>
      </p:sp>
      <p:sp>
        <p:nvSpPr>
          <p:cNvPr id="13" name="Interaction caption"/>
          <p:cNvSpPr txBox="1"/>
          <p:nvPr/>
        </p:nvSpPr>
        <p:spPr>
          <a:xfrm>
            <a:off x="6245352" y="4919251"/>
            <a:ext cx="5394960" cy="548640"/>
          </a:xfrm>
          <a:prstGeom prst="rect">
            <a:avLst/>
          </a:prstGeom>
          <a:noFill/>
          <a:ln/>
        </p:spPr>
        <p:txBody>
          <a:bodyPr wrap="square" lIns="0" tIns="0" rIns="0" bIns="0" rtlCol="0" anchor="t"/>
          <a:lstStyle/>
          <a:p>
            <a:pPr indent="0" marL="0">
              <a:buNone/>
            </a:pPr>
            <a:r>
              <a:rPr lang="en-US" sz="1200" dirty="0">
                <a:solidFill>
                  <a:schemeClr val="tx1"/>
                </a:solidFill>
              </a:rPr>
              <a:t>Azithromycin with her current atorvastatin. The doctor ticks the acknowledgement, and the prescription is signed.</a:t>
            </a:r>
            <a:endParaRPr lang="en-US" sz="1200" dirty="0"/>
          </a:p>
        </p:txBody>
      </p:sp>
      <p:sp>
        <p:nvSpPr>
          <p:cNvPr id="14" name="Checks note"/>
          <p:cNvSpPr txBox="1"/>
          <p:nvPr/>
        </p:nvSpPr>
        <p:spPr>
          <a:xfrm>
            <a:off x="548640" y="5806440"/>
            <a:ext cx="11064240" cy="365760"/>
          </a:xfrm>
          <a:prstGeom prst="rect">
            <a:avLst/>
          </a:prstGeom>
          <a:noFill/>
          <a:ln/>
        </p:spPr>
        <p:txBody>
          <a:bodyPr wrap="square" lIns="0" tIns="0" rIns="0" bIns="0" rtlCol="0" anchor="ctr"/>
          <a:lstStyle/>
          <a:p>
            <a:pPr indent="0" marL="0">
              <a:buNone/>
            </a:pPr>
            <a:r>
              <a:rPr lang="en-US" sz="1200" i="1" dirty="0">
                <a:solidFill>
                  <a:schemeClr val="accent5"/>
                </a:solidFill>
              </a:rPr>
              <a:t>Checks: allergy conflicts · interactions · duplicate therapy · dose limits. Demo rules, not clinical guidance.</a:t>
            </a:r>
            <a:endParaRPr lang="en-US" sz="1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Kicker"/>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DOCTOR · FINISHING THE VISIT</a:t>
            </a:r>
            <a:endParaRPr lang="en-US" sz="1100" dirty="0"/>
          </a:p>
        </p:txBody>
      </p:sp>
      <p:sp>
        <p:nvSpPr>
          <p:cNvPr id="3" name="Text 0"/>
          <p:cNvSpPr/>
          <p:nvPr>
            <p:ph idx="100"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dirty="0">
                <a:solidFill>
                  <a:schemeClr val="tx1"/>
                </a:solidFill>
              </a:rPr>
              <a:t>Orders, care summary, and sharing with the patient</a:t>
            </a:r>
            <a:endParaRPr lang="en-US" sz="3000" dirty="0"/>
          </a:p>
        </p:txBody>
      </p:sp>
      <p:sp>
        <p:nvSpPr>
          <p:cNvPr id="4" name="Orders, care summary, and sharing with the patient shadow"/>
          <p:cNvSpPr/>
          <p:nvPr/>
        </p:nvSpPr>
        <p:spPr>
          <a:xfrm>
            <a:off x="548640" y="1417320"/>
            <a:ext cx="7589520" cy="4047183"/>
          </a:xfrm>
          <a:prstGeom prst="rect">
            <a:avLst/>
          </a:prstGeom>
          <a:solidFill>
            <a:schemeClr val="bg1"/>
          </a:solidFill>
          <a:ln w="12700">
            <a:solidFill>
              <a:schemeClr val="bg1"/>
            </a:solidFill>
            <a:prstDash val="solid"/>
          </a:ln>
          <a:effectLst>
            <a:outerShdw sx="100000" sy="100000" kx="0" ky="0" algn="bl" rotWithShape="0" blurRad="127000" dist="38100" dir="5400000">
              <a:srgbClr val="173F3B">
                <a:alpha val="16000"/>
              </a:srgbClr>
            </a:outerShdw>
          </a:effectLst>
        </p:spPr>
      </p:sp>
      <p:pic>
        <p:nvPicPr>
          <p:cNvPr id="5" name="Orders, care summary, and sharing with the patient" descr="Orders, care summary, and sharing with the patient">    </p:cNvPr>
          <p:cNvPicPr>
            <a:picLocks noChangeAspect="1"/>
          </p:cNvPicPr>
          <p:nvPr/>
        </p:nvPicPr>
        <p:blipFill>
          <a:blip r:embed="rId1"/>
          <a:stretch>
            <a:fillRect/>
          </a:stretch>
        </p:blipFill>
        <p:spPr>
          <a:xfrm>
            <a:off x="548640" y="1417320"/>
            <a:ext cx="7589520" cy="4047183"/>
          </a:xfrm>
          <a:prstGeom prst="rect">
            <a:avLst/>
          </a:prstGeom>
        </p:spPr>
      </p:pic>
      <p:sp>
        <p:nvSpPr>
          <p:cNvPr id="6" name="Point 1 marker"/>
          <p:cNvSpPr/>
          <p:nvPr/>
        </p:nvSpPr>
        <p:spPr>
          <a:xfrm>
            <a:off x="8595360" y="1527048"/>
            <a:ext cx="310896" cy="310896"/>
          </a:xfrm>
          <a:prstGeom prst="ellipse">
            <a:avLst/>
          </a:prstGeom>
          <a:solidFill>
            <a:schemeClr val="accent1"/>
          </a:solidFill>
          <a:ln w="12700">
            <a:solidFill>
              <a:schemeClr val="accent1"/>
            </a:solidFill>
            <a:prstDash val="solid"/>
          </a:ln>
        </p:spPr>
      </p:sp>
      <p:sp>
        <p:nvSpPr>
          <p:cNvPr id="7" name="Point 1 number"/>
          <p:cNvSpPr txBox="1"/>
          <p:nvPr/>
        </p:nvSpPr>
        <p:spPr>
          <a:xfrm>
            <a:off x="8595360" y="1527048"/>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8" name="Point 1"/>
          <p:cNvSpPr txBox="1"/>
          <p:nvPr/>
        </p:nvSpPr>
        <p:spPr>
          <a:xfrm>
            <a:off x="9052560" y="1490472"/>
            <a:ext cx="2590495" cy="7086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Lab and imaging orders</a:t>
            </a:r>
            <a:endParaRPr lang="en-US" sz="1500" dirty="0"/>
          </a:p>
          <a:p>
            <a:pPr indent="0" marL="0">
              <a:spcAft>
                <a:spcPts val="200"/>
              </a:spcAft>
              <a:buNone/>
            </a:pPr>
            <a:r>
              <a:rPr lang="en-US" sz="1300" dirty="0">
                <a:solidFill>
                  <a:schemeClr val="accent5"/>
                </a:solidFill>
              </a:rPr>
              <a:t>Results return to the record and raise alerts when abnormal.</a:t>
            </a:r>
            <a:endParaRPr lang="en-US" sz="1500" dirty="0"/>
          </a:p>
        </p:txBody>
      </p:sp>
      <p:sp>
        <p:nvSpPr>
          <p:cNvPr id="9" name="Point 2 marker"/>
          <p:cNvSpPr/>
          <p:nvPr/>
        </p:nvSpPr>
        <p:spPr>
          <a:xfrm>
            <a:off x="8595360" y="2473452"/>
            <a:ext cx="310896" cy="310896"/>
          </a:xfrm>
          <a:prstGeom prst="ellipse">
            <a:avLst/>
          </a:prstGeom>
          <a:solidFill>
            <a:schemeClr val="accent1"/>
          </a:solidFill>
          <a:ln w="12700">
            <a:solidFill>
              <a:schemeClr val="accent1"/>
            </a:solidFill>
            <a:prstDash val="solid"/>
          </a:ln>
        </p:spPr>
      </p:sp>
      <p:sp>
        <p:nvSpPr>
          <p:cNvPr id="10" name="Point 2 number"/>
          <p:cNvSpPr txBox="1"/>
          <p:nvPr/>
        </p:nvSpPr>
        <p:spPr>
          <a:xfrm>
            <a:off x="8595360" y="2473452"/>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1" name="Point 2"/>
          <p:cNvSpPr txBox="1"/>
          <p:nvPr/>
        </p:nvSpPr>
        <p:spPr>
          <a:xfrm>
            <a:off x="9052560" y="2436876"/>
            <a:ext cx="2590495" cy="916686"/>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Generate from notes</a:t>
            </a:r>
            <a:endParaRPr lang="en-US" sz="1500" dirty="0"/>
          </a:p>
          <a:p>
            <a:pPr indent="0" marL="0">
              <a:spcAft>
                <a:spcPts val="200"/>
              </a:spcAft>
              <a:buNone/>
            </a:pPr>
            <a:r>
              <a:rPr lang="en-US" sz="1300" dirty="0">
                <a:solidFill>
                  <a:schemeClr val="accent5"/>
                </a:solidFill>
              </a:rPr>
              <a:t>A plain-language care summary, template-based (no AI) and editable.</a:t>
            </a:r>
            <a:endParaRPr lang="en-US" sz="1500" dirty="0"/>
          </a:p>
        </p:txBody>
      </p:sp>
      <p:sp>
        <p:nvSpPr>
          <p:cNvPr id="12" name="Point 3 marker"/>
          <p:cNvSpPr/>
          <p:nvPr/>
        </p:nvSpPr>
        <p:spPr>
          <a:xfrm>
            <a:off x="8595360" y="3627882"/>
            <a:ext cx="310896" cy="310896"/>
          </a:xfrm>
          <a:prstGeom prst="ellipse">
            <a:avLst/>
          </a:prstGeom>
          <a:solidFill>
            <a:schemeClr val="accent1"/>
          </a:solidFill>
          <a:ln w="12700">
            <a:solidFill>
              <a:schemeClr val="accent1"/>
            </a:solidFill>
            <a:prstDash val="solid"/>
          </a:ln>
        </p:spPr>
      </p:sp>
      <p:sp>
        <p:nvSpPr>
          <p:cNvPr id="13" name="Point 3 number"/>
          <p:cNvSpPr txBox="1"/>
          <p:nvPr/>
        </p:nvSpPr>
        <p:spPr>
          <a:xfrm>
            <a:off x="8595360" y="3627882"/>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4" name="Point 3"/>
          <p:cNvSpPr txBox="1"/>
          <p:nvPr/>
        </p:nvSpPr>
        <p:spPr>
          <a:xfrm>
            <a:off x="9052560" y="3591306"/>
            <a:ext cx="2590495" cy="7086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Finalize &amp; share</a:t>
            </a:r>
            <a:endParaRPr lang="en-US" sz="1500" dirty="0"/>
          </a:p>
          <a:p>
            <a:pPr indent="0" marL="0">
              <a:spcAft>
                <a:spcPts val="200"/>
              </a:spcAft>
              <a:buNone/>
            </a:pPr>
            <a:r>
              <a:rPr lang="en-US" sz="1300" dirty="0">
                <a:solidFill>
                  <a:schemeClr val="accent5"/>
                </a:solidFill>
              </a:rPr>
              <a:t>The patient sees the summary and the signed prescription.</a:t>
            </a:r>
            <a:endParaRPr lang="en-US" sz="1500" dirty="0"/>
          </a:p>
        </p:txBody>
      </p:sp>
      <p:sp>
        <p:nvSpPr>
          <p:cNvPr id="15" name="Point 4 marker"/>
          <p:cNvSpPr/>
          <p:nvPr/>
        </p:nvSpPr>
        <p:spPr>
          <a:xfrm>
            <a:off x="8595360" y="4574286"/>
            <a:ext cx="310896" cy="310896"/>
          </a:xfrm>
          <a:prstGeom prst="ellipse">
            <a:avLst/>
          </a:prstGeom>
          <a:solidFill>
            <a:schemeClr val="accent1"/>
          </a:solidFill>
          <a:ln w="12700">
            <a:solidFill>
              <a:schemeClr val="accent1"/>
            </a:solidFill>
            <a:prstDash val="solid"/>
          </a:ln>
        </p:spPr>
      </p:sp>
      <p:sp>
        <p:nvSpPr>
          <p:cNvPr id="16" name="Point 4 number"/>
          <p:cNvSpPr txBox="1"/>
          <p:nvPr/>
        </p:nvSpPr>
        <p:spPr>
          <a:xfrm>
            <a:off x="8595360" y="4574286"/>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7" name="Point 4"/>
          <p:cNvSpPr txBox="1"/>
          <p:nvPr/>
        </p:nvSpPr>
        <p:spPr>
          <a:xfrm>
            <a:off x="9052560" y="4537710"/>
            <a:ext cx="2590495" cy="7086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Complete visit</a:t>
            </a:r>
            <a:endParaRPr lang="en-US" sz="1500" dirty="0"/>
          </a:p>
          <a:p>
            <a:pPr indent="0" marL="0">
              <a:spcAft>
                <a:spcPts val="200"/>
              </a:spcAft>
              <a:buNone/>
            </a:pPr>
            <a:r>
              <a:rPr lang="en-US" sz="1300" dirty="0">
                <a:solidFill>
                  <a:schemeClr val="accent5"/>
                </a:solidFill>
              </a:rPr>
              <a:t>Counts towards earnings and performance.</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Kicker"/>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DOCTOR · CONTINUITY AND PERFORMANCE</a:t>
            </a:r>
            <a:endParaRPr lang="en-US" sz="1100" dirty="0"/>
          </a:p>
        </p:txBody>
      </p:sp>
      <p:sp>
        <p:nvSpPr>
          <p:cNvPr id="3" name="Text 0"/>
          <p:cNvSpPr/>
          <p:nvPr>
            <p:ph idx="100"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dirty="0">
                <a:solidFill>
                  <a:schemeClr val="tx1"/>
                </a:solidFill>
              </a:rPr>
              <a:t>Messages, earnings and feedback</a:t>
            </a:r>
            <a:endParaRPr lang="en-US" sz="3000" dirty="0"/>
          </a:p>
        </p:txBody>
      </p:sp>
      <p:sp>
        <p:nvSpPr>
          <p:cNvPr id="4" name="Secure messaging with patients shadow"/>
          <p:cNvSpPr/>
          <p:nvPr/>
        </p:nvSpPr>
        <p:spPr>
          <a:xfrm>
            <a:off x="548640" y="2220208"/>
            <a:ext cx="5394960" cy="2254878"/>
          </a:xfrm>
          <a:prstGeom prst="rect">
            <a:avLst/>
          </a:prstGeom>
          <a:solidFill>
            <a:schemeClr val="bg1"/>
          </a:solidFill>
          <a:ln w="12700">
            <a:solidFill>
              <a:schemeClr val="bg1"/>
            </a:solidFill>
            <a:prstDash val="solid"/>
          </a:ln>
          <a:effectLst>
            <a:outerShdw sx="100000" sy="100000" kx="0" ky="0" algn="bl" rotWithShape="0" blurRad="127000" dist="38100" dir="5400000">
              <a:srgbClr val="173F3B">
                <a:alpha val="16000"/>
              </a:srgbClr>
            </a:outerShdw>
          </a:effectLst>
        </p:spPr>
      </p:sp>
      <p:pic>
        <p:nvPicPr>
          <p:cNvPr id="5" name="Secure messaging with patients" descr="Secure messaging with patients">    </p:cNvPr>
          <p:cNvPicPr>
            <a:picLocks noChangeAspect="1"/>
          </p:cNvPicPr>
          <p:nvPr/>
        </p:nvPicPr>
        <p:blipFill>
          <a:blip r:embed="rId1"/>
          <a:stretch>
            <a:fillRect/>
          </a:stretch>
        </p:blipFill>
        <p:spPr>
          <a:xfrm>
            <a:off x="548640" y="2220208"/>
            <a:ext cx="5394960" cy="2254878"/>
          </a:xfrm>
          <a:prstGeom prst="rect">
            <a:avLst/>
          </a:prstGeom>
        </p:spPr>
      </p:pic>
      <p:sp>
        <p:nvSpPr>
          <p:cNvPr id="6" name="Earnings from completed visits, ratings and feedback shadow"/>
          <p:cNvSpPr/>
          <p:nvPr/>
        </p:nvSpPr>
        <p:spPr>
          <a:xfrm>
            <a:off x="6245352" y="2220208"/>
            <a:ext cx="5394960" cy="2829064"/>
          </a:xfrm>
          <a:prstGeom prst="rect">
            <a:avLst/>
          </a:prstGeom>
          <a:solidFill>
            <a:schemeClr val="bg1"/>
          </a:solidFill>
          <a:ln w="12700">
            <a:solidFill>
              <a:schemeClr val="bg1"/>
            </a:solidFill>
            <a:prstDash val="solid"/>
          </a:ln>
          <a:effectLst>
            <a:outerShdw sx="100000" sy="100000" kx="0" ky="0" algn="bl" rotWithShape="0" blurRad="127000" dist="38100" dir="5400000">
              <a:srgbClr val="173F3B">
                <a:alpha val="16000"/>
              </a:srgbClr>
            </a:outerShdw>
          </a:effectLst>
        </p:spPr>
      </p:sp>
      <p:pic>
        <p:nvPicPr>
          <p:cNvPr id="7" name="Earnings from completed visits, ratings and feedback" descr="Earnings from completed visits, ratings and feedback">    </p:cNvPr>
          <p:cNvPicPr>
            <a:picLocks noChangeAspect="1"/>
          </p:cNvPicPr>
          <p:nvPr/>
        </p:nvPicPr>
        <p:blipFill>
          <a:blip r:embed="rId2"/>
          <a:stretch>
            <a:fillRect/>
          </a:stretch>
        </p:blipFill>
        <p:spPr>
          <a:xfrm>
            <a:off x="6245352" y="2220208"/>
            <a:ext cx="5394960" cy="2829064"/>
          </a:xfrm>
          <a:prstGeom prst="rect">
            <a:avLst/>
          </a:prstGeom>
        </p:spPr>
      </p:pic>
      <p:sp>
        <p:nvSpPr>
          <p:cNvPr id="8" name="Caption"/>
          <p:cNvSpPr txBox="1"/>
          <p:nvPr/>
        </p:nvSpPr>
        <p:spPr>
          <a:xfrm>
            <a:off x="548640" y="4584814"/>
            <a:ext cx="5394960" cy="274320"/>
          </a:xfrm>
          <a:prstGeom prst="rect">
            <a:avLst/>
          </a:prstGeom>
          <a:noFill/>
          <a:ln/>
        </p:spPr>
        <p:txBody>
          <a:bodyPr wrap="square" lIns="0" tIns="0" rIns="0" bIns="0" rtlCol="0" anchor="ctr"/>
          <a:lstStyle/>
          <a:p>
            <a:pPr algn="ctr" indent="0" marL="0">
              <a:buNone/>
            </a:pPr>
            <a:r>
              <a:rPr lang="en-US" sz="1100" i="1" dirty="0">
                <a:solidFill>
                  <a:schemeClr val="accent5"/>
                </a:solidFill>
              </a:rPr>
              <a:t>Secure messaging with patients</a:t>
            </a:r>
            <a:endParaRPr lang="en-US" sz="1100" dirty="0"/>
          </a:p>
        </p:txBody>
      </p:sp>
      <p:sp>
        <p:nvSpPr>
          <p:cNvPr id="9" name="Caption"/>
          <p:cNvSpPr txBox="1"/>
          <p:nvPr/>
        </p:nvSpPr>
        <p:spPr>
          <a:xfrm>
            <a:off x="6245352" y="5159000"/>
            <a:ext cx="5394960" cy="274320"/>
          </a:xfrm>
          <a:prstGeom prst="rect">
            <a:avLst/>
          </a:prstGeom>
          <a:noFill/>
          <a:ln/>
        </p:spPr>
        <p:txBody>
          <a:bodyPr wrap="square" lIns="0" tIns="0" rIns="0" bIns="0" rtlCol="0" anchor="ctr"/>
          <a:lstStyle/>
          <a:p>
            <a:pPr algn="ctr" indent="0" marL="0">
              <a:buNone/>
            </a:pPr>
            <a:r>
              <a:rPr lang="en-US" sz="1100" i="1" dirty="0">
                <a:solidFill>
                  <a:schemeClr val="accent5"/>
                </a:solidFill>
              </a:rPr>
              <a:t>Earnings from completed visits, ratings and feedback</a:t>
            </a:r>
            <a:endParaRPr lang="en-US" sz="11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Kicker"/>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ADMIN</a:t>
            </a:r>
            <a:endParaRPr lang="en-US" sz="1100" dirty="0"/>
          </a:p>
        </p:txBody>
      </p:sp>
      <p:sp>
        <p:nvSpPr>
          <p:cNvPr id="3" name="Text 0"/>
          <p:cNvSpPr/>
          <p:nvPr>
            <p:ph idx="100"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dirty="0">
                <a:solidFill>
                  <a:schemeClr val="tx1"/>
                </a:solidFill>
              </a:rPr>
              <a:t>Admins verify doctors but cannot open clinical records</a:t>
            </a:r>
            <a:endParaRPr lang="en-US" sz="3000" dirty="0"/>
          </a:p>
        </p:txBody>
      </p:sp>
      <p:sp>
        <p:nvSpPr>
          <p:cNvPr id="4" name="New doctors stay pending until verified shadow"/>
          <p:cNvSpPr/>
          <p:nvPr/>
        </p:nvSpPr>
        <p:spPr>
          <a:xfrm>
            <a:off x="548640" y="2283009"/>
            <a:ext cx="5394960" cy="2305717"/>
          </a:xfrm>
          <a:prstGeom prst="rect">
            <a:avLst/>
          </a:prstGeom>
          <a:solidFill>
            <a:schemeClr val="bg1"/>
          </a:solidFill>
          <a:ln w="12700">
            <a:solidFill>
              <a:schemeClr val="bg1"/>
            </a:solidFill>
            <a:prstDash val="solid"/>
          </a:ln>
          <a:effectLst>
            <a:outerShdw sx="100000" sy="100000" kx="0" ky="0" algn="bl" rotWithShape="0" blurRad="127000" dist="38100" dir="5400000">
              <a:srgbClr val="173F3B">
                <a:alpha val="16000"/>
              </a:srgbClr>
            </a:outerShdw>
          </a:effectLst>
        </p:spPr>
      </p:sp>
      <p:pic>
        <p:nvPicPr>
          <p:cNvPr id="5" name="New doctors stay pending until verified" descr="New doctors stay pending until verified">    </p:cNvPr>
          <p:cNvPicPr>
            <a:picLocks noChangeAspect="1"/>
          </p:cNvPicPr>
          <p:nvPr/>
        </p:nvPicPr>
        <p:blipFill>
          <a:blip r:embed="rId1"/>
          <a:stretch>
            <a:fillRect/>
          </a:stretch>
        </p:blipFill>
        <p:spPr>
          <a:xfrm>
            <a:off x="548640" y="2283009"/>
            <a:ext cx="5394960" cy="2305717"/>
          </a:xfrm>
          <a:prstGeom prst="rect">
            <a:avLst/>
          </a:prstGeom>
        </p:spPr>
      </p:pic>
      <p:sp>
        <p:nvSpPr>
          <p:cNvPr id="6" name="Platform overview and analytics shadow"/>
          <p:cNvSpPr/>
          <p:nvPr/>
        </p:nvSpPr>
        <p:spPr>
          <a:xfrm>
            <a:off x="6245352" y="2283009"/>
            <a:ext cx="5394960" cy="2703461"/>
          </a:xfrm>
          <a:prstGeom prst="rect">
            <a:avLst/>
          </a:prstGeom>
          <a:solidFill>
            <a:schemeClr val="bg1"/>
          </a:solidFill>
          <a:ln w="12700">
            <a:solidFill>
              <a:schemeClr val="bg1"/>
            </a:solidFill>
            <a:prstDash val="solid"/>
          </a:ln>
          <a:effectLst>
            <a:outerShdw sx="100000" sy="100000" kx="0" ky="0" algn="bl" rotWithShape="0" blurRad="127000" dist="38100" dir="5400000">
              <a:srgbClr val="173F3B">
                <a:alpha val="16000"/>
              </a:srgbClr>
            </a:outerShdw>
          </a:effectLst>
        </p:spPr>
      </p:sp>
      <p:pic>
        <p:nvPicPr>
          <p:cNvPr id="7" name="Platform overview and analytics" descr="Platform overview and analytics">    </p:cNvPr>
          <p:cNvPicPr>
            <a:picLocks noChangeAspect="1"/>
          </p:cNvPicPr>
          <p:nvPr/>
        </p:nvPicPr>
        <p:blipFill>
          <a:blip r:embed="rId2"/>
          <a:stretch>
            <a:fillRect/>
          </a:stretch>
        </p:blipFill>
        <p:spPr>
          <a:xfrm>
            <a:off x="6245352" y="2283009"/>
            <a:ext cx="5394960" cy="2703461"/>
          </a:xfrm>
          <a:prstGeom prst="rect">
            <a:avLst/>
          </a:prstGeom>
        </p:spPr>
      </p:pic>
      <p:sp>
        <p:nvSpPr>
          <p:cNvPr id="8" name="Caption"/>
          <p:cNvSpPr txBox="1"/>
          <p:nvPr/>
        </p:nvSpPr>
        <p:spPr>
          <a:xfrm>
            <a:off x="548640" y="4698455"/>
            <a:ext cx="5394960" cy="274320"/>
          </a:xfrm>
          <a:prstGeom prst="rect">
            <a:avLst/>
          </a:prstGeom>
          <a:noFill/>
          <a:ln/>
        </p:spPr>
        <p:txBody>
          <a:bodyPr wrap="square" lIns="0" tIns="0" rIns="0" bIns="0" rtlCol="0" anchor="ctr"/>
          <a:lstStyle/>
          <a:p>
            <a:pPr algn="ctr" indent="0" marL="0">
              <a:buNone/>
            </a:pPr>
            <a:r>
              <a:rPr lang="en-US" sz="1100" i="1" dirty="0">
                <a:solidFill>
                  <a:schemeClr val="accent5"/>
                </a:solidFill>
              </a:rPr>
              <a:t>New doctors stay pending until verified</a:t>
            </a:r>
            <a:endParaRPr lang="en-US" sz="1100" dirty="0"/>
          </a:p>
        </p:txBody>
      </p:sp>
      <p:sp>
        <p:nvSpPr>
          <p:cNvPr id="9" name="Caption"/>
          <p:cNvSpPr txBox="1"/>
          <p:nvPr/>
        </p:nvSpPr>
        <p:spPr>
          <a:xfrm>
            <a:off x="6245352" y="5096199"/>
            <a:ext cx="5394960" cy="274320"/>
          </a:xfrm>
          <a:prstGeom prst="rect">
            <a:avLst/>
          </a:prstGeom>
          <a:noFill/>
          <a:ln/>
        </p:spPr>
        <p:txBody>
          <a:bodyPr wrap="square" lIns="0" tIns="0" rIns="0" bIns="0" rtlCol="0" anchor="ctr"/>
          <a:lstStyle/>
          <a:p>
            <a:pPr algn="ctr" indent="0" marL="0">
              <a:buNone/>
            </a:pPr>
            <a:r>
              <a:rPr lang="en-US" sz="1100" i="1" dirty="0">
                <a:solidFill>
                  <a:schemeClr val="accent5"/>
                </a:solidFill>
              </a:rPr>
              <a:t>Platform overview and analytics</a:t>
            </a:r>
            <a:endParaRPr lang="en-US" sz="11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Kicker"/>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RESPONSIVE</a:t>
            </a:r>
            <a:endParaRPr lang="en-US" sz="1100" dirty="0"/>
          </a:p>
        </p:txBody>
      </p:sp>
      <p:sp>
        <p:nvSpPr>
          <p:cNvPr id="3" name="Text 0"/>
          <p:cNvSpPr/>
          <p:nvPr>
            <p:ph idx="100"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dirty="0">
                <a:solidFill>
                  <a:schemeClr val="tx1"/>
                </a:solidFill>
              </a:rPr>
              <a:t>The same app works on a phone</a:t>
            </a:r>
            <a:endParaRPr lang="en-US" sz="3000" dirty="0"/>
          </a:p>
        </p:txBody>
      </p:sp>
      <p:sp>
        <p:nvSpPr>
          <p:cNvPr id="4" name="Patient home shadow"/>
          <p:cNvSpPr/>
          <p:nvPr/>
        </p:nvSpPr>
        <p:spPr>
          <a:xfrm>
            <a:off x="609546" y="1371600"/>
            <a:ext cx="2118468" cy="4572000"/>
          </a:xfrm>
          <a:prstGeom prst="rect">
            <a:avLst/>
          </a:prstGeom>
          <a:solidFill>
            <a:schemeClr val="bg1"/>
          </a:solidFill>
          <a:ln w="12700">
            <a:solidFill>
              <a:schemeClr val="bg1"/>
            </a:solidFill>
            <a:prstDash val="solid"/>
          </a:ln>
          <a:effectLst>
            <a:outerShdw sx="100000" sy="100000" kx="0" ky="0" algn="bl" rotWithShape="0" blurRad="127000" dist="38100" dir="5400000">
              <a:srgbClr val="173F3B">
                <a:alpha val="16000"/>
              </a:srgbClr>
            </a:outerShdw>
          </a:effectLst>
        </p:spPr>
      </p:sp>
      <p:pic>
        <p:nvPicPr>
          <p:cNvPr id="5" name="Patient home" descr="Patient home">    </p:cNvPr>
          <p:cNvPicPr>
            <a:picLocks noChangeAspect="1"/>
          </p:cNvPicPr>
          <p:nvPr/>
        </p:nvPicPr>
        <p:blipFill>
          <a:blip r:embed="rId1"/>
          <a:stretch>
            <a:fillRect/>
          </a:stretch>
        </p:blipFill>
        <p:spPr>
          <a:xfrm>
            <a:off x="609546" y="1371600"/>
            <a:ext cx="2118468" cy="4572000"/>
          </a:xfrm>
          <a:prstGeom prst="rect">
            <a:avLst/>
          </a:prstGeom>
        </p:spPr>
      </p:pic>
      <p:sp>
        <p:nvSpPr>
          <p:cNvPr id="6" name="Caption"/>
          <p:cNvSpPr txBox="1"/>
          <p:nvPr/>
        </p:nvSpPr>
        <p:spPr>
          <a:xfrm>
            <a:off x="609546" y="6053328"/>
            <a:ext cx="2118468" cy="274320"/>
          </a:xfrm>
          <a:prstGeom prst="rect">
            <a:avLst/>
          </a:prstGeom>
          <a:noFill/>
          <a:ln/>
        </p:spPr>
        <p:txBody>
          <a:bodyPr wrap="square" lIns="0" tIns="0" rIns="0" bIns="0" rtlCol="0" anchor="ctr"/>
          <a:lstStyle/>
          <a:p>
            <a:pPr algn="ctr" indent="0" marL="0">
              <a:buNone/>
            </a:pPr>
            <a:r>
              <a:rPr lang="en-US" sz="1100" i="1" dirty="0">
                <a:solidFill>
                  <a:schemeClr val="accent5"/>
                </a:solidFill>
              </a:rPr>
              <a:t>Patient home</a:t>
            </a:r>
            <a:endParaRPr lang="en-US" sz="1100" dirty="0"/>
          </a:p>
        </p:txBody>
      </p:sp>
      <p:sp>
        <p:nvSpPr>
          <p:cNvPr id="7" name="Medications and adherence shadow"/>
          <p:cNvSpPr/>
          <p:nvPr/>
        </p:nvSpPr>
        <p:spPr>
          <a:xfrm>
            <a:off x="3124146" y="1371600"/>
            <a:ext cx="2118468" cy="4572000"/>
          </a:xfrm>
          <a:prstGeom prst="rect">
            <a:avLst/>
          </a:prstGeom>
          <a:solidFill>
            <a:schemeClr val="bg1"/>
          </a:solidFill>
          <a:ln w="12700">
            <a:solidFill>
              <a:schemeClr val="bg1"/>
            </a:solidFill>
            <a:prstDash val="solid"/>
          </a:ln>
          <a:effectLst>
            <a:outerShdw sx="100000" sy="100000" kx="0" ky="0" algn="bl" rotWithShape="0" blurRad="127000" dist="38100" dir="5400000">
              <a:srgbClr val="173F3B">
                <a:alpha val="16000"/>
              </a:srgbClr>
            </a:outerShdw>
          </a:effectLst>
        </p:spPr>
      </p:sp>
      <p:pic>
        <p:nvPicPr>
          <p:cNvPr id="8" name="Medications and adherence" descr="Medications and adherence">    </p:cNvPr>
          <p:cNvPicPr>
            <a:picLocks noChangeAspect="1"/>
          </p:cNvPicPr>
          <p:nvPr/>
        </p:nvPicPr>
        <p:blipFill>
          <a:blip r:embed="rId2"/>
          <a:stretch>
            <a:fillRect/>
          </a:stretch>
        </p:blipFill>
        <p:spPr>
          <a:xfrm>
            <a:off x="3124146" y="1371600"/>
            <a:ext cx="2118468" cy="4572000"/>
          </a:xfrm>
          <a:prstGeom prst="rect">
            <a:avLst/>
          </a:prstGeom>
        </p:spPr>
      </p:pic>
      <p:sp>
        <p:nvSpPr>
          <p:cNvPr id="9" name="Caption"/>
          <p:cNvSpPr txBox="1"/>
          <p:nvPr/>
        </p:nvSpPr>
        <p:spPr>
          <a:xfrm>
            <a:off x="3124146" y="6053328"/>
            <a:ext cx="2118468" cy="274320"/>
          </a:xfrm>
          <a:prstGeom prst="rect">
            <a:avLst/>
          </a:prstGeom>
          <a:noFill/>
          <a:ln/>
        </p:spPr>
        <p:txBody>
          <a:bodyPr wrap="square" lIns="0" tIns="0" rIns="0" bIns="0" rtlCol="0" anchor="ctr"/>
          <a:lstStyle/>
          <a:p>
            <a:pPr algn="ctr" indent="0" marL="0">
              <a:buNone/>
            </a:pPr>
            <a:r>
              <a:rPr lang="en-US" sz="1100" i="1" dirty="0">
                <a:solidFill>
                  <a:schemeClr val="accent5"/>
                </a:solidFill>
              </a:rPr>
              <a:t>Medications and adherence</a:t>
            </a:r>
            <a:endParaRPr lang="en-US" sz="1100" dirty="0"/>
          </a:p>
        </p:txBody>
      </p:sp>
      <p:sp>
        <p:nvSpPr>
          <p:cNvPr id="10" name="Doctor's day queue shadow"/>
          <p:cNvSpPr/>
          <p:nvPr/>
        </p:nvSpPr>
        <p:spPr>
          <a:xfrm>
            <a:off x="5638746" y="1371600"/>
            <a:ext cx="2118468" cy="4572000"/>
          </a:xfrm>
          <a:prstGeom prst="rect">
            <a:avLst/>
          </a:prstGeom>
          <a:solidFill>
            <a:schemeClr val="bg1"/>
          </a:solidFill>
          <a:ln w="12700">
            <a:solidFill>
              <a:schemeClr val="bg1"/>
            </a:solidFill>
            <a:prstDash val="solid"/>
          </a:ln>
          <a:effectLst>
            <a:outerShdw sx="100000" sy="100000" kx="0" ky="0" algn="bl" rotWithShape="0" blurRad="127000" dist="38100" dir="5400000">
              <a:srgbClr val="173F3B">
                <a:alpha val="16000"/>
              </a:srgbClr>
            </a:outerShdw>
          </a:effectLst>
        </p:spPr>
      </p:sp>
      <p:pic>
        <p:nvPicPr>
          <p:cNvPr id="11" name="Doctor's day queue" descr="Doctor's day queue">    </p:cNvPr>
          <p:cNvPicPr>
            <a:picLocks noChangeAspect="1"/>
          </p:cNvPicPr>
          <p:nvPr/>
        </p:nvPicPr>
        <p:blipFill>
          <a:blip r:embed="rId3"/>
          <a:stretch>
            <a:fillRect/>
          </a:stretch>
        </p:blipFill>
        <p:spPr>
          <a:xfrm>
            <a:off x="5638746" y="1371600"/>
            <a:ext cx="2118468" cy="4572000"/>
          </a:xfrm>
          <a:prstGeom prst="rect">
            <a:avLst/>
          </a:prstGeom>
        </p:spPr>
      </p:pic>
      <p:sp>
        <p:nvSpPr>
          <p:cNvPr id="12" name="Caption"/>
          <p:cNvSpPr txBox="1"/>
          <p:nvPr/>
        </p:nvSpPr>
        <p:spPr>
          <a:xfrm>
            <a:off x="5638746" y="6053328"/>
            <a:ext cx="2118468" cy="274320"/>
          </a:xfrm>
          <a:prstGeom prst="rect">
            <a:avLst/>
          </a:prstGeom>
          <a:noFill/>
          <a:ln/>
        </p:spPr>
        <p:txBody>
          <a:bodyPr wrap="square" lIns="0" tIns="0" rIns="0" bIns="0" rtlCol="0" anchor="ctr"/>
          <a:lstStyle/>
          <a:p>
            <a:pPr algn="ctr" indent="0" marL="0">
              <a:buNone/>
            </a:pPr>
            <a:r>
              <a:rPr lang="en-US" sz="1100" i="1" dirty="0">
                <a:solidFill>
                  <a:schemeClr val="accent5"/>
                </a:solidFill>
              </a:rPr>
              <a:t>Doctor's day queue</a:t>
            </a:r>
            <a:endParaRPr lang="en-US" sz="1100" dirty="0"/>
          </a:p>
        </p:txBody>
      </p:sp>
      <p:sp>
        <p:nvSpPr>
          <p:cNvPr id="13" name="Point 1 marker"/>
          <p:cNvSpPr/>
          <p:nvPr/>
        </p:nvSpPr>
        <p:spPr>
          <a:xfrm>
            <a:off x="8229600" y="1572768"/>
            <a:ext cx="310896" cy="310896"/>
          </a:xfrm>
          <a:prstGeom prst="ellipse">
            <a:avLst/>
          </a:prstGeom>
          <a:solidFill>
            <a:schemeClr val="accent1"/>
          </a:solidFill>
          <a:ln w="12700">
            <a:solidFill>
              <a:schemeClr val="accent1"/>
            </a:solidFill>
            <a:prstDash val="solid"/>
          </a:ln>
        </p:spPr>
      </p:sp>
      <p:sp>
        <p:nvSpPr>
          <p:cNvPr id="14" name="Point 1 number"/>
          <p:cNvSpPr txBox="1"/>
          <p:nvPr/>
        </p:nvSpPr>
        <p:spPr>
          <a:xfrm>
            <a:off x="8229600" y="1572768"/>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15" name="Point 1"/>
          <p:cNvSpPr txBox="1"/>
          <p:nvPr/>
        </p:nvSpPr>
        <p:spPr>
          <a:xfrm>
            <a:off x="8686800" y="1536192"/>
            <a:ext cx="2953512" cy="7086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One codebase</a:t>
            </a:r>
            <a:endParaRPr lang="en-US" sz="1500" dirty="0"/>
          </a:p>
          <a:p>
            <a:pPr indent="0" marL="0">
              <a:spcAft>
                <a:spcPts val="200"/>
              </a:spcAft>
              <a:buNone/>
            </a:pPr>
            <a:r>
              <a:rPr lang="en-US" sz="1300" dirty="0">
                <a:solidFill>
                  <a:schemeClr val="accent5"/>
                </a:solidFill>
              </a:rPr>
              <a:t>Patients and doctors use the same app on desktop and phone.</a:t>
            </a:r>
            <a:endParaRPr lang="en-US" sz="1500" dirty="0"/>
          </a:p>
        </p:txBody>
      </p:sp>
      <p:sp>
        <p:nvSpPr>
          <p:cNvPr id="16" name="Point 2 marker"/>
          <p:cNvSpPr/>
          <p:nvPr/>
        </p:nvSpPr>
        <p:spPr>
          <a:xfrm>
            <a:off x="8229600" y="2601468"/>
            <a:ext cx="310896" cy="310896"/>
          </a:xfrm>
          <a:prstGeom prst="ellipse">
            <a:avLst/>
          </a:prstGeom>
          <a:solidFill>
            <a:schemeClr val="accent1"/>
          </a:solidFill>
          <a:ln w="12700">
            <a:solidFill>
              <a:schemeClr val="accent1"/>
            </a:solidFill>
            <a:prstDash val="solid"/>
          </a:ln>
        </p:spPr>
      </p:sp>
      <p:sp>
        <p:nvSpPr>
          <p:cNvPr id="17" name="Point 2 number"/>
          <p:cNvSpPr txBox="1"/>
          <p:nvPr/>
        </p:nvSpPr>
        <p:spPr>
          <a:xfrm>
            <a:off x="8229600" y="2601468"/>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8" name="Point 2"/>
          <p:cNvSpPr txBox="1"/>
          <p:nvPr/>
        </p:nvSpPr>
        <p:spPr>
          <a:xfrm>
            <a:off x="8686800" y="2564892"/>
            <a:ext cx="2953512" cy="916686"/>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Checked automatically</a:t>
            </a:r>
            <a:endParaRPr lang="en-US" sz="1500" dirty="0"/>
          </a:p>
          <a:p>
            <a:pPr indent="0" marL="0">
              <a:spcAft>
                <a:spcPts val="200"/>
              </a:spcAft>
              <a:buNone/>
            </a:pPr>
            <a:r>
              <a:rPr lang="en-US" sz="1300" dirty="0">
                <a:solidFill>
                  <a:schemeClr val="accent5"/>
                </a:solidFill>
              </a:rPr>
              <a:t>Browser tests open every page at 390 px wide: no errors, no sideways scrolling.</a:t>
            </a:r>
            <a:endParaRPr lang="en-US" sz="1500" dirty="0"/>
          </a:p>
        </p:txBody>
      </p:sp>
      <p:sp>
        <p:nvSpPr>
          <p:cNvPr id="19" name="Point 3 marker"/>
          <p:cNvSpPr/>
          <p:nvPr/>
        </p:nvSpPr>
        <p:spPr>
          <a:xfrm>
            <a:off x="8229600" y="3838194"/>
            <a:ext cx="310896" cy="310896"/>
          </a:xfrm>
          <a:prstGeom prst="ellipse">
            <a:avLst/>
          </a:prstGeom>
          <a:solidFill>
            <a:schemeClr val="accent1"/>
          </a:solidFill>
          <a:ln w="12700">
            <a:solidFill>
              <a:schemeClr val="accent1"/>
            </a:solidFill>
            <a:prstDash val="solid"/>
          </a:ln>
        </p:spPr>
      </p:sp>
      <p:sp>
        <p:nvSpPr>
          <p:cNvPr id="20" name="Point 3 number"/>
          <p:cNvSpPr txBox="1"/>
          <p:nvPr/>
        </p:nvSpPr>
        <p:spPr>
          <a:xfrm>
            <a:off x="8229600" y="3838194"/>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21" name="Point 3"/>
          <p:cNvSpPr txBox="1"/>
          <p:nvPr/>
        </p:nvSpPr>
        <p:spPr>
          <a:xfrm>
            <a:off x="8686800" y="3801618"/>
            <a:ext cx="2953512" cy="7086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Prints cleanly</a:t>
            </a:r>
            <a:endParaRPr lang="en-US" sz="1500" dirty="0"/>
          </a:p>
          <a:p>
            <a:pPr indent="0" marL="0">
              <a:spcAft>
                <a:spcPts val="200"/>
              </a:spcAft>
              <a:buNone/>
            </a:pPr>
            <a:r>
              <a:rPr lang="en-US" sz="1300" dirty="0">
                <a:solidFill>
                  <a:schemeClr val="accent5"/>
                </a:solidFill>
              </a:rPr>
              <a:t>E-prescriptions print or save as PDF from the browser.</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Kicker"/>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COVERAGE</a:t>
            </a:r>
            <a:endParaRPr lang="en-US" sz="1100" dirty="0"/>
          </a:p>
        </p:txBody>
      </p:sp>
      <p:sp>
        <p:nvSpPr>
          <p:cNvPr id="3" name="Text 0"/>
          <p:cNvSpPr/>
          <p:nvPr>
            <p:ph idx="100"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dirty="0">
                <a:solidFill>
                  <a:schemeClr val="tx1"/>
                </a:solidFill>
              </a:rPr>
              <a:t>Coverage against the components document</a:t>
            </a:r>
            <a:endParaRPr lang="en-US" sz="3000" dirty="0"/>
          </a:p>
        </p:txBody>
      </p:sp>
      <p:sp>
        <p:nvSpPr>
          <p:cNvPr id="4" name="Built header"/>
          <p:cNvSpPr/>
          <p:nvPr/>
        </p:nvSpPr>
        <p:spPr>
          <a:xfrm>
            <a:off x="548640" y="1463040"/>
            <a:ext cx="2606040" cy="502920"/>
          </a:xfrm>
          <a:prstGeom prst="rect">
            <a:avLst/>
          </a:prstGeom>
          <a:solidFill>
            <a:schemeClr val="accent1"/>
          </a:solidFill>
          <a:ln w="12700">
            <a:solidFill>
              <a:schemeClr val="accent1"/>
            </a:solidFill>
            <a:prstDash val="solid"/>
          </a:ln>
        </p:spPr>
      </p:sp>
      <p:sp>
        <p:nvSpPr>
          <p:cNvPr id="5" name="Built label"/>
          <p:cNvSpPr txBox="1"/>
          <p:nvPr/>
        </p:nvSpPr>
        <p:spPr>
          <a:xfrm>
            <a:off x="731520" y="1463040"/>
            <a:ext cx="2240280" cy="502920"/>
          </a:xfrm>
          <a:prstGeom prst="rect">
            <a:avLst/>
          </a:prstGeom>
          <a:noFill/>
          <a:ln/>
        </p:spPr>
        <p:txBody>
          <a:bodyPr wrap="square" lIns="0" tIns="0" rIns="0" bIns="0" rtlCol="0" anchor="ctr"/>
          <a:lstStyle/>
          <a:p>
            <a:pPr indent="0" marL="0">
              <a:buNone/>
            </a:pPr>
            <a:r>
              <a:rPr lang="en-US" sz="1600" b="1" dirty="0">
                <a:solidFill>
                  <a:schemeClr val="bg1"/>
                </a:solidFill>
              </a:rPr>
              <a:t>Built</a:t>
            </a:r>
            <a:endParaRPr lang="en-US" sz="1600" dirty="0"/>
          </a:p>
        </p:txBody>
      </p:sp>
      <p:sp>
        <p:nvSpPr>
          <p:cNvPr id="6" name="Built body"/>
          <p:cNvSpPr/>
          <p:nvPr/>
        </p:nvSpPr>
        <p:spPr>
          <a:xfrm>
            <a:off x="548640" y="1965960"/>
            <a:ext cx="2606040" cy="4160520"/>
          </a:xfrm>
          <a:prstGeom prst="rect">
            <a:avLst/>
          </a:prstGeom>
          <a:solidFill>
            <a:schemeClr val="bg2"/>
          </a:solidFill>
          <a:ln w="12700">
            <a:solidFill>
              <a:schemeClr val="bg2"/>
            </a:solidFill>
            <a:prstDash val="solid"/>
          </a:ln>
        </p:spPr>
      </p:sp>
      <p:sp>
        <p:nvSpPr>
          <p:cNvPr id="7" name="Built items"/>
          <p:cNvSpPr txBox="1"/>
          <p:nvPr/>
        </p:nvSpPr>
        <p:spPr>
          <a:xfrm>
            <a:off x="685800" y="2103120"/>
            <a:ext cx="2331720" cy="393192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Registration, consent, family profiles</a:t>
            </a:r>
            <a:endParaRPr lang="en-US" sz="1300" dirty="0"/>
          </a:p>
          <a:p>
            <a:pPr marL="177800" indent="-177800">
              <a:spcAft>
                <a:spcPts val="600"/>
              </a:spcAft>
              <a:buSzPct val="100000"/>
              <a:buChar char="•"/>
            </a:pPr>
            <a:r>
              <a:rPr lang="en-US" sz="1300" dirty="0">
                <a:solidFill>
                  <a:schemeClr val="tx1"/>
                </a:solidFill>
              </a:rPr>
              <a:t>Health profile and documents</a:t>
            </a:r>
            <a:endParaRPr lang="en-US" sz="1300" dirty="0"/>
          </a:p>
          <a:p>
            <a:pPr marL="177800" indent="-177800">
              <a:spcAft>
                <a:spcPts val="600"/>
              </a:spcAft>
              <a:buSzPct val="100000"/>
              <a:buChar char="•"/>
            </a:pPr>
            <a:r>
              <a:rPr lang="en-US" sz="1300" dirty="0">
                <a:solidFill>
                  <a:schemeClr val="tx1"/>
                </a:solidFill>
              </a:rPr>
              <a:t>Search, booking, check-in</a:t>
            </a:r>
            <a:endParaRPr lang="en-US" sz="1300" dirty="0"/>
          </a:p>
          <a:p>
            <a:pPr marL="177800" indent="-177800">
              <a:spcAft>
                <a:spcPts val="600"/>
              </a:spcAft>
              <a:buSzPct val="100000"/>
              <a:buChar char="•"/>
            </a:pPr>
            <a:r>
              <a:rPr lang="en-US" sz="1300" dirty="0">
                <a:solidFill>
                  <a:schemeClr val="tx1"/>
                </a:solidFill>
              </a:rPr>
              <a:t>Schedule, leave, fees, day queue</a:t>
            </a:r>
            <a:endParaRPr lang="en-US" sz="1300" dirty="0"/>
          </a:p>
          <a:p>
            <a:pPr marL="177800" indent="-177800">
              <a:spcAft>
                <a:spcPts val="600"/>
              </a:spcAft>
              <a:buSzPct val="100000"/>
              <a:buChar char="•"/>
            </a:pPr>
            <a:r>
              <a:rPr lang="en-US" sz="1300" dirty="0">
                <a:solidFill>
                  <a:schemeClr val="tx1"/>
                </a:solidFill>
              </a:rPr>
              <a:t>Patient record and consultation workspace</a:t>
            </a:r>
            <a:endParaRPr lang="en-US" sz="1300" dirty="0"/>
          </a:p>
          <a:p>
            <a:pPr marL="177800" indent="-177800">
              <a:spcAft>
                <a:spcPts val="600"/>
              </a:spcAft>
              <a:buSzPct val="100000"/>
              <a:buChar char="•"/>
            </a:pPr>
            <a:r>
              <a:rPr lang="en-US" sz="1300" dirty="0">
                <a:solidFill>
                  <a:schemeClr val="tx1"/>
                </a:solidFill>
              </a:rPr>
              <a:t>E-prescriptions with safety checks</a:t>
            </a:r>
            <a:endParaRPr lang="en-US" sz="1300" dirty="0"/>
          </a:p>
          <a:p>
            <a:pPr marL="177800" indent="-177800">
              <a:spcAft>
                <a:spcPts val="600"/>
              </a:spcAft>
              <a:buSzPct val="100000"/>
              <a:buChar char="•"/>
            </a:pPr>
            <a:r>
              <a:rPr lang="en-US" sz="1300" dirty="0">
                <a:solidFill>
                  <a:schemeClr val="tx1"/>
                </a:solidFill>
              </a:rPr>
              <a:t>Orders, results, referrals, messages</a:t>
            </a:r>
            <a:endParaRPr lang="en-US" sz="1300" dirty="0"/>
          </a:p>
          <a:p>
            <a:pPr marL="177800" indent="-177800">
              <a:spcAft>
                <a:spcPts val="600"/>
              </a:spcAft>
              <a:buSzPct val="100000"/>
              <a:buChar char="•"/>
            </a:pPr>
            <a:r>
              <a:rPr lang="en-US" sz="1300" dirty="0">
                <a:solidFill>
                  <a:schemeClr val="tx1"/>
                </a:solidFill>
              </a:rPr>
              <a:t>Earnings, privacy controls, admin panel</a:t>
            </a:r>
            <a:endParaRPr lang="en-US" sz="1300" dirty="0"/>
          </a:p>
        </p:txBody>
      </p:sp>
      <p:sp>
        <p:nvSpPr>
          <p:cNvPr id="8" name="Simulated header"/>
          <p:cNvSpPr/>
          <p:nvPr/>
        </p:nvSpPr>
        <p:spPr>
          <a:xfrm>
            <a:off x="3364992" y="1463040"/>
            <a:ext cx="2606040" cy="502920"/>
          </a:xfrm>
          <a:prstGeom prst="rect">
            <a:avLst/>
          </a:prstGeom>
          <a:solidFill>
            <a:schemeClr val="accent4"/>
          </a:solidFill>
          <a:ln w="12700">
            <a:solidFill>
              <a:schemeClr val="accent4"/>
            </a:solidFill>
            <a:prstDash val="solid"/>
          </a:ln>
        </p:spPr>
      </p:sp>
      <p:sp>
        <p:nvSpPr>
          <p:cNvPr id="9" name="Simulated label"/>
          <p:cNvSpPr txBox="1"/>
          <p:nvPr/>
        </p:nvSpPr>
        <p:spPr>
          <a:xfrm>
            <a:off x="3547872" y="1463040"/>
            <a:ext cx="2240280" cy="502920"/>
          </a:xfrm>
          <a:prstGeom prst="rect">
            <a:avLst/>
          </a:prstGeom>
          <a:noFill/>
          <a:ln/>
        </p:spPr>
        <p:txBody>
          <a:bodyPr wrap="square" lIns="0" tIns="0" rIns="0" bIns="0" rtlCol="0" anchor="ctr"/>
          <a:lstStyle/>
          <a:p>
            <a:pPr indent="0" marL="0">
              <a:buNone/>
            </a:pPr>
            <a:r>
              <a:rPr lang="en-US" sz="1600" b="1" dirty="0">
                <a:solidFill>
                  <a:schemeClr val="bg1"/>
                </a:solidFill>
              </a:rPr>
              <a:t>Simulated</a:t>
            </a:r>
            <a:endParaRPr lang="en-US" sz="1600" dirty="0"/>
          </a:p>
        </p:txBody>
      </p:sp>
      <p:sp>
        <p:nvSpPr>
          <p:cNvPr id="10" name="Simulated body"/>
          <p:cNvSpPr/>
          <p:nvPr/>
        </p:nvSpPr>
        <p:spPr>
          <a:xfrm>
            <a:off x="3364992" y="1965960"/>
            <a:ext cx="2606040" cy="4160520"/>
          </a:xfrm>
          <a:prstGeom prst="rect">
            <a:avLst/>
          </a:prstGeom>
          <a:solidFill>
            <a:schemeClr val="bg2"/>
          </a:solidFill>
          <a:ln w="12700">
            <a:solidFill>
              <a:schemeClr val="bg2"/>
            </a:solidFill>
            <a:prstDash val="solid"/>
          </a:ln>
        </p:spPr>
      </p:sp>
      <p:sp>
        <p:nvSpPr>
          <p:cNvPr id="11" name="Simulated items"/>
          <p:cNvSpPr txBox="1"/>
          <p:nvPr/>
        </p:nvSpPr>
        <p:spPr>
          <a:xfrm>
            <a:off x="3502152" y="2103120"/>
            <a:ext cx="2331720" cy="393192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SMS, email and push delivery</a:t>
            </a:r>
            <a:endParaRPr lang="en-US" sz="1300" dirty="0"/>
          </a:p>
          <a:p>
            <a:pPr marL="177800" indent="-177800">
              <a:spcAft>
                <a:spcPts val="600"/>
              </a:spcAft>
              <a:buSzPct val="100000"/>
              <a:buChar char="•"/>
            </a:pPr>
            <a:r>
              <a:rPr lang="en-US" sz="1300" dirty="0">
                <a:solidFill>
                  <a:schemeClr val="tx1"/>
                </a:solidFill>
              </a:rPr>
              <a:t>Device vitals</a:t>
            </a:r>
            <a:endParaRPr lang="en-US" sz="1300" dirty="0"/>
          </a:p>
          <a:p>
            <a:pPr marL="177800" indent="-177800">
              <a:spcAft>
                <a:spcPts val="600"/>
              </a:spcAft>
              <a:buSzPct val="100000"/>
              <a:buChar char="•"/>
            </a:pPr>
            <a:r>
              <a:rPr lang="en-US" sz="1300" dirty="0">
                <a:solidFill>
                  <a:schemeClr val="tx1"/>
                </a:solidFill>
              </a:rPr>
              <a:t>Digital signature (SHA-256 hash)</a:t>
            </a:r>
            <a:endParaRPr lang="en-US" sz="1300" dirty="0"/>
          </a:p>
          <a:p>
            <a:pPr marL="177800" indent="-177800">
              <a:spcAft>
                <a:spcPts val="600"/>
              </a:spcAft>
              <a:buSzPct val="100000"/>
              <a:buChar char="•"/>
            </a:pPr>
            <a:r>
              <a:rPr lang="en-US" sz="1300" dirty="0">
                <a:solidFill>
                  <a:schemeClr val="tx1"/>
                </a:solidFill>
              </a:rPr>
              <a:t>Voice dictation uses the browser</a:t>
            </a:r>
            <a:endParaRPr lang="en-US" sz="1300" dirty="0"/>
          </a:p>
        </p:txBody>
      </p:sp>
      <p:sp>
        <p:nvSpPr>
          <p:cNvPr id="12" name="To be decided header"/>
          <p:cNvSpPr/>
          <p:nvPr/>
        </p:nvSpPr>
        <p:spPr>
          <a:xfrm>
            <a:off x="6181344" y="1463040"/>
            <a:ext cx="2606040" cy="502920"/>
          </a:xfrm>
          <a:prstGeom prst="rect">
            <a:avLst/>
          </a:prstGeom>
          <a:solidFill>
            <a:schemeClr val="accent3"/>
          </a:solidFill>
          <a:ln w="12700">
            <a:solidFill>
              <a:schemeClr val="accent3"/>
            </a:solidFill>
            <a:prstDash val="solid"/>
          </a:ln>
        </p:spPr>
      </p:sp>
      <p:sp>
        <p:nvSpPr>
          <p:cNvPr id="13" name="To be decided label"/>
          <p:cNvSpPr txBox="1"/>
          <p:nvPr/>
        </p:nvSpPr>
        <p:spPr>
          <a:xfrm>
            <a:off x="6364224" y="1463040"/>
            <a:ext cx="2240280" cy="502920"/>
          </a:xfrm>
          <a:prstGeom prst="rect">
            <a:avLst/>
          </a:prstGeom>
          <a:noFill/>
          <a:ln/>
        </p:spPr>
        <p:txBody>
          <a:bodyPr wrap="square" lIns="0" tIns="0" rIns="0" bIns="0" rtlCol="0" anchor="ctr"/>
          <a:lstStyle/>
          <a:p>
            <a:pPr indent="0" marL="0">
              <a:buNone/>
            </a:pPr>
            <a:r>
              <a:rPr lang="en-US" sz="1600" b="1" dirty="0">
                <a:solidFill>
                  <a:schemeClr val="bg1"/>
                </a:solidFill>
              </a:rPr>
              <a:t>To be decided</a:t>
            </a:r>
            <a:endParaRPr lang="en-US" sz="1600" dirty="0"/>
          </a:p>
        </p:txBody>
      </p:sp>
      <p:sp>
        <p:nvSpPr>
          <p:cNvPr id="14" name="To be decided body"/>
          <p:cNvSpPr/>
          <p:nvPr/>
        </p:nvSpPr>
        <p:spPr>
          <a:xfrm>
            <a:off x="6181344" y="1965960"/>
            <a:ext cx="2606040" cy="4160520"/>
          </a:xfrm>
          <a:prstGeom prst="rect">
            <a:avLst/>
          </a:prstGeom>
          <a:solidFill>
            <a:schemeClr val="bg2"/>
          </a:solidFill>
          <a:ln w="12700">
            <a:solidFill>
              <a:schemeClr val="bg2"/>
            </a:solidFill>
            <a:prstDash val="solid"/>
          </a:ln>
        </p:spPr>
      </p:sp>
      <p:sp>
        <p:nvSpPr>
          <p:cNvPr id="15" name="To be decided items"/>
          <p:cNvSpPr txBox="1"/>
          <p:nvPr/>
        </p:nvSpPr>
        <p:spPr>
          <a:xfrm>
            <a:off x="6318504" y="2103120"/>
            <a:ext cx="2331720" cy="393192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Payments, invoices, refunds</a:t>
            </a:r>
            <a:endParaRPr lang="en-US" sz="1300" dirty="0"/>
          </a:p>
          <a:p>
            <a:pPr marL="177800" indent="-177800">
              <a:spcAft>
                <a:spcPts val="600"/>
              </a:spcAft>
              <a:buSzPct val="100000"/>
              <a:buChar char="•"/>
            </a:pPr>
            <a:r>
              <a:rPr lang="en-US" sz="1300" dirty="0">
                <a:solidFill>
                  <a:schemeClr val="tx1"/>
                </a:solidFill>
              </a:rPr>
              <a:t>Payouts</a:t>
            </a:r>
            <a:endParaRPr lang="en-US" sz="1300" dirty="0"/>
          </a:p>
          <a:p>
            <a:pPr marL="177800" indent="-177800">
              <a:spcAft>
                <a:spcPts val="600"/>
              </a:spcAft>
              <a:buSzPct val="100000"/>
              <a:buChar char="•"/>
            </a:pPr>
            <a:r>
              <a:rPr lang="en-US" sz="1300" dirty="0">
                <a:solidFill>
                  <a:schemeClr val="tx1"/>
                </a:solidFill>
              </a:rPr>
              <a:t>Disputes in the admin panel</a:t>
            </a:r>
            <a:endParaRPr lang="en-US" sz="1300" dirty="0"/>
          </a:p>
        </p:txBody>
      </p:sp>
      <p:sp>
        <p:nvSpPr>
          <p:cNvPr id="16" name="Not in the POC header"/>
          <p:cNvSpPr/>
          <p:nvPr/>
        </p:nvSpPr>
        <p:spPr>
          <a:xfrm>
            <a:off x="8997696" y="1463040"/>
            <a:ext cx="2606040" cy="502920"/>
          </a:xfrm>
          <a:prstGeom prst="rect">
            <a:avLst/>
          </a:prstGeom>
          <a:solidFill>
            <a:schemeClr val="accent2"/>
          </a:solidFill>
          <a:ln w="12700">
            <a:solidFill>
              <a:schemeClr val="accent2"/>
            </a:solidFill>
            <a:prstDash val="solid"/>
          </a:ln>
        </p:spPr>
      </p:sp>
      <p:sp>
        <p:nvSpPr>
          <p:cNvPr id="17" name="Not in the POC label"/>
          <p:cNvSpPr txBox="1"/>
          <p:nvPr/>
        </p:nvSpPr>
        <p:spPr>
          <a:xfrm>
            <a:off x="9180576" y="1463040"/>
            <a:ext cx="2240280" cy="502920"/>
          </a:xfrm>
          <a:prstGeom prst="rect">
            <a:avLst/>
          </a:prstGeom>
          <a:noFill/>
          <a:ln/>
        </p:spPr>
        <p:txBody>
          <a:bodyPr wrap="square" lIns="0" tIns="0" rIns="0" bIns="0" rtlCol="0" anchor="ctr"/>
          <a:lstStyle/>
          <a:p>
            <a:pPr indent="0" marL="0">
              <a:buNone/>
            </a:pPr>
            <a:r>
              <a:rPr lang="en-US" sz="1600" b="1" dirty="0">
                <a:solidFill>
                  <a:schemeClr val="bg1"/>
                </a:solidFill>
              </a:rPr>
              <a:t>Not in the POC</a:t>
            </a:r>
            <a:endParaRPr lang="en-US" sz="1600" dirty="0"/>
          </a:p>
        </p:txBody>
      </p:sp>
      <p:sp>
        <p:nvSpPr>
          <p:cNvPr id="18" name="Not in the POC body"/>
          <p:cNvSpPr/>
          <p:nvPr/>
        </p:nvSpPr>
        <p:spPr>
          <a:xfrm>
            <a:off x="8997696" y="1965960"/>
            <a:ext cx="2606040" cy="4160520"/>
          </a:xfrm>
          <a:prstGeom prst="rect">
            <a:avLst/>
          </a:prstGeom>
          <a:solidFill>
            <a:schemeClr val="bg2"/>
          </a:solidFill>
          <a:ln w="12700">
            <a:solidFill>
              <a:schemeClr val="bg2"/>
            </a:solidFill>
            <a:prstDash val="solid"/>
          </a:ln>
        </p:spPr>
      </p:sp>
      <p:sp>
        <p:nvSpPr>
          <p:cNvPr id="19" name="Not in the POC items"/>
          <p:cNvSpPr txBox="1"/>
          <p:nvPr/>
        </p:nvSpPr>
        <p:spPr>
          <a:xfrm>
            <a:off x="9134856" y="2103120"/>
            <a:ext cx="2331720" cy="393192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OTP, email verification, biometrics</a:t>
            </a:r>
            <a:endParaRPr lang="en-US" sz="1300" dirty="0"/>
          </a:p>
          <a:p>
            <a:pPr marL="177800" indent="-177800">
              <a:spcAft>
                <a:spcPts val="600"/>
              </a:spcAft>
              <a:buSzPct val="100000"/>
              <a:buChar char="•"/>
            </a:pPr>
            <a:r>
              <a:rPr lang="en-US" sz="1300" dirty="0">
                <a:solidFill>
                  <a:schemeClr val="tx1"/>
                </a:solidFill>
              </a:rPr>
              <a:t>Pharmacy routing (optional)</a:t>
            </a:r>
            <a:endParaRPr lang="en-US" sz="1300" dirty="0"/>
          </a:p>
          <a:p>
            <a:pPr marL="177800" indent="-177800">
              <a:spcAft>
                <a:spcPts val="600"/>
              </a:spcAft>
              <a:buSzPct val="100000"/>
              <a:buChar char="•"/>
            </a:pPr>
            <a:r>
              <a:rPr lang="en-US" sz="1300" dirty="0">
                <a:solidFill>
                  <a:schemeClr val="tx1"/>
                </a:solidFill>
              </a:rPr>
              <a:t>Encryption at rest, compliance</a:t>
            </a:r>
            <a:endParaRPr lang="en-US" sz="1300" dirty="0"/>
          </a:p>
          <a:p>
            <a:pPr marL="177800" indent="-177800">
              <a:spcAft>
                <a:spcPts val="600"/>
              </a:spcAft>
              <a:buSzPct val="100000"/>
              <a:buChar char="•"/>
            </a:pPr>
            <a:r>
              <a:rPr lang="en-US" sz="1300" dirty="0">
                <a:solidFill>
                  <a:schemeClr val="tx1"/>
                </a:solidFill>
              </a:rPr>
              <a:t>FHIR, SNOMED, LOINC</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Kicker"/>
          <p:cNvSpPr txBox="1"/>
          <p:nvPr/>
        </p:nvSpPr>
        <p:spPr>
          <a:xfrm>
            <a:off x="640080" y="548640"/>
            <a:ext cx="5486400" cy="320040"/>
          </a:xfrm>
          <a:prstGeom prst="rect">
            <a:avLst/>
          </a:prstGeom>
          <a:noFill/>
          <a:ln/>
        </p:spPr>
        <p:txBody>
          <a:bodyPr wrap="square" lIns="0" tIns="0" rIns="0" bIns="0" rtlCol="0" anchor="ctr"/>
          <a:lstStyle/>
          <a:p>
            <a:pPr indent="0" marL="0">
              <a:buNone/>
            </a:pPr>
            <a:r>
              <a:rPr lang="en-US" sz="1200" b="1" spc="300" kern="0" dirty="0">
                <a:solidFill>
                  <a:schemeClr val="accent6"/>
                </a:solidFill>
              </a:rPr>
              <a:t>NEXT STEPS</a:t>
            </a:r>
            <a:endParaRPr lang="en-US" sz="1200" dirty="0"/>
          </a:p>
        </p:txBody>
      </p:sp>
      <p:sp>
        <p:nvSpPr>
          <p:cNvPr id="3" name="Heading"/>
          <p:cNvSpPr txBox="1"/>
          <p:nvPr/>
        </p:nvSpPr>
        <p:spPr>
          <a:xfrm>
            <a:off x="640080" y="914400"/>
            <a:ext cx="10881360" cy="822960"/>
          </a:xfrm>
          <a:prstGeom prst="rect">
            <a:avLst/>
          </a:prstGeom>
          <a:noFill/>
          <a:ln/>
        </p:spPr>
        <p:txBody>
          <a:bodyPr wrap="square" lIns="0" tIns="0" rIns="0" bIns="0" rtlCol="0" anchor="ctr"/>
          <a:lstStyle/>
          <a:p>
            <a:pPr indent="0" marL="0">
              <a:buNone/>
            </a:pPr>
            <a:r>
              <a:rPr lang="en-US" sz="3600" dirty="0">
                <a:solidFill>
                  <a:schemeClr val="bg1"/>
                </a:solidFill>
                <a:latin typeface="Cambria" pitchFamily="34" charset="0"/>
                <a:ea typeface="Cambria" pitchFamily="34" charset="-122"/>
                <a:cs typeface="Cambria" pitchFamily="34" charset="-120"/>
              </a:rPr>
              <a:t>Decisions for the next phase</a:t>
            </a:r>
            <a:endParaRPr lang="en-US" sz="3600" dirty="0"/>
          </a:p>
        </p:txBody>
      </p:sp>
      <p:sp>
        <p:nvSpPr>
          <p:cNvPr id="4" name="Step 1 number"/>
          <p:cNvSpPr txBox="1"/>
          <p:nvPr/>
        </p:nvSpPr>
        <p:spPr>
          <a:xfrm>
            <a:off x="640080" y="2148840"/>
            <a:ext cx="731520" cy="548640"/>
          </a:xfrm>
          <a:prstGeom prst="rect">
            <a:avLst/>
          </a:prstGeom>
          <a:noFill/>
          <a:ln/>
        </p:spPr>
        <p:txBody>
          <a:bodyPr wrap="square" lIns="0" tIns="0" rIns="0" bIns="0" rtlCol="0" anchor="t"/>
          <a:lstStyle/>
          <a:p>
            <a:pPr indent="0" marL="0">
              <a:buNone/>
            </a:pPr>
            <a:r>
              <a:rPr lang="en-US" sz="3000" dirty="0">
                <a:solidFill>
                  <a:schemeClr val="accent6"/>
                </a:solidFill>
                <a:latin typeface="Cambria" pitchFamily="34" charset="0"/>
                <a:ea typeface="Cambria" pitchFamily="34" charset="-122"/>
                <a:cs typeface="Cambria" pitchFamily="34" charset="-120"/>
              </a:rPr>
              <a:t>01</a:t>
            </a:r>
            <a:endParaRPr lang="en-US" sz="3000" dirty="0"/>
          </a:p>
        </p:txBody>
      </p:sp>
      <p:sp>
        <p:nvSpPr>
          <p:cNvPr id="5" name="Step 1"/>
          <p:cNvSpPr txBox="1"/>
          <p:nvPr/>
        </p:nvSpPr>
        <p:spPr>
          <a:xfrm>
            <a:off x="1463040" y="2148840"/>
            <a:ext cx="4480560" cy="1097280"/>
          </a:xfrm>
          <a:prstGeom prst="rect">
            <a:avLst/>
          </a:prstGeom>
          <a:noFill/>
          <a:ln/>
        </p:spPr>
        <p:txBody>
          <a:bodyPr wrap="square" lIns="0" tIns="0" rIns="0" bIns="0" rtlCol="0" anchor="t"/>
          <a:lstStyle/>
          <a:p>
            <a:pPr indent="0" marL="0">
              <a:buNone/>
            </a:pPr>
            <a:r>
              <a:rPr lang="en-US" sz="1700" b="1" dirty="0">
                <a:solidFill>
                  <a:schemeClr val="bg1"/>
                </a:solidFill>
              </a:rPr>
              <a:t>Confirm the doctor's details</a:t>
            </a:r>
            <a:endParaRPr lang="en-US" sz="1700" dirty="0"/>
          </a:p>
          <a:p>
            <a:pPr indent="0" marL="0">
              <a:buNone/>
            </a:pPr>
            <a:r>
              <a:rPr lang="en-US" sz="1300" dirty="0">
                <a:solidFill>
                  <a:schemeClr val="accent6"/>
                </a:solidFill>
              </a:rPr>
              <a:t>Registration and licence numbers, qualifications, clinic address, fees and hours (placeholders today).</a:t>
            </a:r>
            <a:endParaRPr lang="en-US" sz="1700" dirty="0"/>
          </a:p>
        </p:txBody>
      </p:sp>
      <p:sp>
        <p:nvSpPr>
          <p:cNvPr id="6" name="Step 2 number"/>
          <p:cNvSpPr txBox="1"/>
          <p:nvPr/>
        </p:nvSpPr>
        <p:spPr>
          <a:xfrm>
            <a:off x="640080" y="3474720"/>
            <a:ext cx="731520" cy="548640"/>
          </a:xfrm>
          <a:prstGeom prst="rect">
            <a:avLst/>
          </a:prstGeom>
          <a:noFill/>
          <a:ln/>
        </p:spPr>
        <p:txBody>
          <a:bodyPr wrap="square" lIns="0" tIns="0" rIns="0" bIns="0" rtlCol="0" anchor="t"/>
          <a:lstStyle/>
          <a:p>
            <a:pPr indent="0" marL="0">
              <a:buNone/>
            </a:pPr>
            <a:r>
              <a:rPr lang="en-US" sz="3000" dirty="0">
                <a:solidFill>
                  <a:schemeClr val="accent6"/>
                </a:solidFill>
                <a:latin typeface="Cambria" pitchFamily="34" charset="0"/>
                <a:ea typeface="Cambria" pitchFamily="34" charset="-122"/>
                <a:cs typeface="Cambria" pitchFamily="34" charset="-120"/>
              </a:rPr>
              <a:t>02</a:t>
            </a:r>
            <a:endParaRPr lang="en-US" sz="3000" dirty="0"/>
          </a:p>
        </p:txBody>
      </p:sp>
      <p:sp>
        <p:nvSpPr>
          <p:cNvPr id="7" name="Step 2"/>
          <p:cNvSpPr txBox="1"/>
          <p:nvPr/>
        </p:nvSpPr>
        <p:spPr>
          <a:xfrm>
            <a:off x="1463040" y="3474720"/>
            <a:ext cx="4480560" cy="1097280"/>
          </a:xfrm>
          <a:prstGeom prst="rect">
            <a:avLst/>
          </a:prstGeom>
          <a:noFill/>
          <a:ln/>
        </p:spPr>
        <p:txBody>
          <a:bodyPr wrap="square" lIns="0" tIns="0" rIns="0" bIns="0" rtlCol="0" anchor="t"/>
          <a:lstStyle/>
          <a:p>
            <a:pPr indent="0" marL="0">
              <a:buNone/>
            </a:pPr>
            <a:r>
              <a:rPr lang="en-US" sz="1700" b="1" dirty="0">
                <a:solidFill>
                  <a:schemeClr val="bg1"/>
                </a:solidFill>
              </a:rPr>
              <a:t>Decide on payments</a:t>
            </a:r>
            <a:endParaRPr lang="en-US" sz="1700" dirty="0"/>
          </a:p>
          <a:p>
            <a:pPr indent="0" marL="0">
              <a:buNone/>
            </a:pPr>
            <a:r>
              <a:rPr lang="en-US" sz="1300" dirty="0">
                <a:solidFill>
                  <a:schemeClr val="accent6"/>
                </a:solidFill>
              </a:rPr>
              <a:t>Online or at the clinic, invoices, refunds and payouts.</a:t>
            </a:r>
            <a:endParaRPr lang="en-US" sz="1700" dirty="0"/>
          </a:p>
        </p:txBody>
      </p:sp>
      <p:sp>
        <p:nvSpPr>
          <p:cNvPr id="8" name="Step 3 number"/>
          <p:cNvSpPr txBox="1"/>
          <p:nvPr/>
        </p:nvSpPr>
        <p:spPr>
          <a:xfrm>
            <a:off x="640080" y="4800600"/>
            <a:ext cx="731520" cy="548640"/>
          </a:xfrm>
          <a:prstGeom prst="rect">
            <a:avLst/>
          </a:prstGeom>
          <a:noFill/>
          <a:ln/>
        </p:spPr>
        <p:txBody>
          <a:bodyPr wrap="square" lIns="0" tIns="0" rIns="0" bIns="0" rtlCol="0" anchor="t"/>
          <a:lstStyle/>
          <a:p>
            <a:pPr indent="0" marL="0">
              <a:buNone/>
            </a:pPr>
            <a:r>
              <a:rPr lang="en-US" sz="3000" dirty="0">
                <a:solidFill>
                  <a:schemeClr val="accent6"/>
                </a:solidFill>
                <a:latin typeface="Cambria" pitchFamily="34" charset="0"/>
                <a:ea typeface="Cambria" pitchFamily="34" charset="-122"/>
                <a:cs typeface="Cambria" pitchFamily="34" charset="-120"/>
              </a:rPr>
              <a:t>03</a:t>
            </a:r>
            <a:endParaRPr lang="en-US" sz="3000" dirty="0"/>
          </a:p>
        </p:txBody>
      </p:sp>
      <p:sp>
        <p:nvSpPr>
          <p:cNvPr id="9" name="Step 3"/>
          <p:cNvSpPr txBox="1"/>
          <p:nvPr/>
        </p:nvSpPr>
        <p:spPr>
          <a:xfrm>
            <a:off x="1463040" y="4800600"/>
            <a:ext cx="4480560" cy="1097280"/>
          </a:xfrm>
          <a:prstGeom prst="rect">
            <a:avLst/>
          </a:prstGeom>
          <a:noFill/>
          <a:ln/>
        </p:spPr>
        <p:txBody>
          <a:bodyPr wrap="square" lIns="0" tIns="0" rIns="0" bIns="0" rtlCol="0" anchor="t"/>
          <a:lstStyle/>
          <a:p>
            <a:pPr indent="0" marL="0">
              <a:buNone/>
            </a:pPr>
            <a:r>
              <a:rPr lang="en-US" sz="1700" b="1" dirty="0">
                <a:solidFill>
                  <a:schemeClr val="bg1"/>
                </a:solidFill>
              </a:rPr>
              <a:t>Choose production services</a:t>
            </a:r>
            <a:endParaRPr lang="en-US" sz="1700" dirty="0"/>
          </a:p>
          <a:p>
            <a:pPr indent="0" marL="0">
              <a:buNone/>
            </a:pPr>
            <a:r>
              <a:rPr lang="en-US" sz="1300" dirty="0">
                <a:solidFill>
                  <a:schemeClr val="accent6"/>
                </a:solidFill>
              </a:rPr>
              <a:t>Sign-in method (OTP or passwords) and SMS, email and push providers.</a:t>
            </a:r>
            <a:endParaRPr lang="en-US" sz="1700" dirty="0"/>
          </a:p>
        </p:txBody>
      </p:sp>
      <p:sp>
        <p:nvSpPr>
          <p:cNvPr id="10" name="Step 4 number"/>
          <p:cNvSpPr txBox="1"/>
          <p:nvPr/>
        </p:nvSpPr>
        <p:spPr>
          <a:xfrm>
            <a:off x="6217920" y="2148840"/>
            <a:ext cx="731520" cy="548640"/>
          </a:xfrm>
          <a:prstGeom prst="rect">
            <a:avLst/>
          </a:prstGeom>
          <a:noFill/>
          <a:ln/>
        </p:spPr>
        <p:txBody>
          <a:bodyPr wrap="square" lIns="0" tIns="0" rIns="0" bIns="0" rtlCol="0" anchor="t"/>
          <a:lstStyle/>
          <a:p>
            <a:pPr indent="0" marL="0">
              <a:buNone/>
            </a:pPr>
            <a:r>
              <a:rPr lang="en-US" sz="3000" dirty="0">
                <a:solidFill>
                  <a:schemeClr val="accent6"/>
                </a:solidFill>
                <a:latin typeface="Cambria" pitchFamily="34" charset="0"/>
                <a:ea typeface="Cambria" pitchFamily="34" charset="-122"/>
                <a:cs typeface="Cambria" pitchFamily="34" charset="-120"/>
              </a:rPr>
              <a:t>04</a:t>
            </a:r>
            <a:endParaRPr lang="en-US" sz="3000" dirty="0"/>
          </a:p>
        </p:txBody>
      </p:sp>
      <p:sp>
        <p:nvSpPr>
          <p:cNvPr id="11" name="Step 4"/>
          <p:cNvSpPr txBox="1"/>
          <p:nvPr/>
        </p:nvSpPr>
        <p:spPr>
          <a:xfrm>
            <a:off x="7040880" y="2148840"/>
            <a:ext cx="4480560" cy="1097280"/>
          </a:xfrm>
          <a:prstGeom prst="rect">
            <a:avLst/>
          </a:prstGeom>
          <a:noFill/>
          <a:ln/>
        </p:spPr>
        <p:txBody>
          <a:bodyPr wrap="square" lIns="0" tIns="0" rIns="0" bIns="0" rtlCol="0" anchor="t"/>
          <a:lstStyle/>
          <a:p>
            <a:pPr indent="0" marL="0">
              <a:buNone/>
            </a:pPr>
            <a:r>
              <a:rPr lang="en-US" sz="1700" b="1" dirty="0">
                <a:solidFill>
                  <a:schemeClr val="bg1"/>
                </a:solidFill>
              </a:rPr>
              <a:t>Move to a managed database</a:t>
            </a:r>
            <a:endParaRPr lang="en-US" sz="1700" dirty="0"/>
          </a:p>
          <a:p>
            <a:pPr indent="0" marL="0">
              <a:buNone/>
            </a:pPr>
            <a:r>
              <a:rPr lang="en-US" sz="1300" dirty="0">
                <a:solidFill>
                  <a:schemeClr val="accent6"/>
                </a:solidFill>
              </a:rPr>
              <a:t>Replace the JSON file; add encryption at rest and backups.</a:t>
            </a:r>
            <a:endParaRPr lang="en-US" sz="1700" dirty="0"/>
          </a:p>
        </p:txBody>
      </p:sp>
      <p:sp>
        <p:nvSpPr>
          <p:cNvPr id="12" name="Step 5 number"/>
          <p:cNvSpPr txBox="1"/>
          <p:nvPr/>
        </p:nvSpPr>
        <p:spPr>
          <a:xfrm>
            <a:off x="6217920" y="3474720"/>
            <a:ext cx="731520" cy="548640"/>
          </a:xfrm>
          <a:prstGeom prst="rect">
            <a:avLst/>
          </a:prstGeom>
          <a:noFill/>
          <a:ln/>
        </p:spPr>
        <p:txBody>
          <a:bodyPr wrap="square" lIns="0" tIns="0" rIns="0" bIns="0" rtlCol="0" anchor="t"/>
          <a:lstStyle/>
          <a:p>
            <a:pPr indent="0" marL="0">
              <a:buNone/>
            </a:pPr>
            <a:r>
              <a:rPr lang="en-US" sz="3000" dirty="0">
                <a:solidFill>
                  <a:schemeClr val="accent6"/>
                </a:solidFill>
                <a:latin typeface="Cambria" pitchFamily="34" charset="0"/>
                <a:ea typeface="Cambria" pitchFamily="34" charset="-122"/>
                <a:cs typeface="Cambria" pitchFamily="34" charset="-120"/>
              </a:rPr>
              <a:t>05</a:t>
            </a:r>
            <a:endParaRPr lang="en-US" sz="3000" dirty="0"/>
          </a:p>
        </p:txBody>
      </p:sp>
      <p:sp>
        <p:nvSpPr>
          <p:cNvPr id="13" name="Step 5"/>
          <p:cNvSpPr txBox="1"/>
          <p:nvPr/>
        </p:nvSpPr>
        <p:spPr>
          <a:xfrm>
            <a:off x="7040880" y="3474720"/>
            <a:ext cx="4480560" cy="1097280"/>
          </a:xfrm>
          <a:prstGeom prst="rect">
            <a:avLst/>
          </a:prstGeom>
          <a:noFill/>
          <a:ln/>
        </p:spPr>
        <p:txBody>
          <a:bodyPr wrap="square" lIns="0" tIns="0" rIns="0" bIns="0" rtlCol="0" anchor="t"/>
          <a:lstStyle/>
          <a:p>
            <a:pPr indent="0" marL="0">
              <a:buNone/>
            </a:pPr>
            <a:r>
              <a:rPr lang="en-US" sz="1700" b="1" dirty="0">
                <a:solidFill>
                  <a:schemeClr val="bg1"/>
                </a:solidFill>
              </a:rPr>
              <a:t>Plan compliance and clinical content</a:t>
            </a:r>
            <a:endParaRPr lang="en-US" sz="1700" dirty="0"/>
          </a:p>
          <a:p>
            <a:pPr indent="0" marL="0">
              <a:buNone/>
            </a:pPr>
            <a:r>
              <a:rPr lang="en-US" sz="1300" dirty="0">
                <a:solidFill>
                  <a:schemeClr val="accent6"/>
                </a:solidFill>
              </a:rPr>
              <a:t>DPDP (and ABDM if needed), and agreed sources for drugs and coding.</a:t>
            </a:r>
            <a:endParaRPr lang="en-US" sz="1700" dirty="0"/>
          </a:p>
        </p:txBody>
      </p:sp>
      <p:sp>
        <p:nvSpPr>
          <p:cNvPr id="14" name="Disclaimer"/>
          <p:cNvSpPr txBox="1"/>
          <p:nvPr/>
        </p:nvSpPr>
        <p:spPr>
          <a:xfrm>
            <a:off x="640080" y="6263640"/>
            <a:ext cx="7315200" cy="274320"/>
          </a:xfrm>
          <a:prstGeom prst="rect">
            <a:avLst/>
          </a:prstGeom>
          <a:noFill/>
          <a:ln/>
        </p:spPr>
        <p:txBody>
          <a:bodyPr wrap="square" lIns="0" tIns="0" rIns="0" bIns="0" rtlCol="0" anchor="ctr"/>
          <a:lstStyle/>
          <a:p>
            <a:pPr indent="0" marL="0">
              <a:buNone/>
            </a:pPr>
            <a:r>
              <a:rPr lang="en-US" sz="1000" i="1" dirty="0">
                <a:solidFill>
                  <a:schemeClr val="accent6"/>
                </a:solidFill>
              </a:rPr>
              <a:t>All names and records in this demo are fictional dummy data.</a:t>
            </a:r>
            <a:endParaRPr lang="en-US" sz="1000" dirty="0"/>
          </a:p>
        </p:txBody>
      </p:sp>
      <p:sp>
        <p:nvSpPr>
          <p:cNvPr id="16" name="Text 0"/>
          <p:cNvSpPr/>
          <p:nvPr>
            <p:ph idx="100" type="title" hasCustomPrompt="1"/>
          </p:nvPr>
        </p:nvSpPr>
        <p:spPr>
          <a:xfrm>
            <a:off x="640080" y="1828800"/>
            <a:ext cx="5852160" cy="1737360"/>
          </a:xfrm>
          <a:prstGeom prst="rect">
            <a:avLst/>
          </a:prstGeom>
          <a:noFill/>
          <a:ln/>
        </p:spPr>
        <p:txBody>
          <a:bodyPr wrap="square" lIns="0" tIns="0" rIns="0" bIns="0" rtlCol="0" anchor="b"/>
          <a:lstStyle/>
          <a:p>
            <a:pPr algn="l" indent="0" marL="0">
              <a:buNone/>
            </a:pPr>
            <a:endParaRPr lang="en-US" sz="4400" dirty="0"/>
          </a:p>
        </p:txBody>
      </p:sp>
      <p:sp>
        <p:nvSpPr>
          <p:cNvPr id="17" name="Text 0"/>
          <p:cNvSpPr/>
          <p:nvPr>
            <p:ph idx="101" type="body" hasCustomPrompt="1"/>
          </p:nvPr>
        </p:nvSpPr>
        <p:spPr>
          <a:xfrm>
            <a:off x="640080" y="3749040"/>
            <a:ext cx="5486400" cy="1280160"/>
          </a:xfrm>
          <a:prstGeom prst="rect">
            <a:avLst/>
          </a:prstGeom>
          <a:noFill/>
          <a:ln/>
        </p:spPr>
        <p:txBody>
          <a:bodyPr wrap="square" lIns="0" tIns="0" rIns="0" bIns="0" rtlCol="0" anchor="t"/>
          <a:lstStyle/>
          <a:p>
            <a:pPr algn="l" indent="0" marL="0">
              <a:buNone/>
            </a:pPr>
            <a:endParaRPr lang="en-US" sz="1800" dirty="0"/>
          </a:p>
        </p:txBody>
      </p:sp>
    </p:spTree>
  </p:cSld>
  <p:clrMapOvr>
    <a:masterClrMapping/>
  </p:clrMapOvr>
</p:sld>
</file>

<file path=ppt/theme/theme1.xml><?xml version="1.0" encoding="utf-8"?>
<a:theme xmlns:a="http://schemas.openxmlformats.org/drawingml/2006/main" name="LK Wellness">
  <a:themeElements>
    <a:clrScheme name="LK Wellness">
      <a:dk1>
        <a:srgbClr val="173F3B"/>
      </a:dk1>
      <a:lt1>
        <a:srgbClr val="FFFFFF"/>
      </a:lt1>
      <a:dk2>
        <a:srgbClr val="123E37"/>
      </a:dk2>
      <a:lt2>
        <a:srgbClr val="F6F8F3"/>
      </a:lt2>
      <a:accent1>
        <a:srgbClr val="23695C"/>
      </a:accent1>
      <a:accent2>
        <a:srgbClr val="A8483A"/>
      </a:accent2>
      <a:accent3>
        <a:srgbClr val="8D6E27"/>
      </a:accent3>
      <a:accent4>
        <a:srgbClr val="2D5F8A"/>
      </a:accent4>
      <a:accent5>
        <a:srgbClr val="647B73"/>
      </a:accent5>
      <a:accent6>
        <a:srgbClr val="E9F3E9"/>
      </a:accent6>
      <a:hlink>
        <a:srgbClr val="23695C"/>
      </a:hlink>
      <a:folHlink>
        <a:srgbClr val="185547"/>
      </a:folHlink>
    </a:clrScheme>
    <a:fontScheme name="LK Wellnes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LK Wellness Doctor–Patient App: POC demo</dc:title>
  <dc:subject>Proof of concept walkthrough</dc:subject>
  <dc:creator>PptxGenJS</dc:creator>
  <cp:lastModifiedBy>PptxGenJS</cp:lastModifiedBy>
  <cp:revision>1</cp:revision>
  <dcterms:created xsi:type="dcterms:W3CDTF">2026-10-02T12:15:06Z</dcterms:created>
  <dcterms:modified xsi:type="dcterms:W3CDTF">2026-10-02T12:15:06Z</dcterms:modified>
</cp:coreProperties>
</file>